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744"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pl-PL"/>
              <a:t>Kliknij, aby edytować styl</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idx="1"/>
          </p:nvPr>
        </p:nvSpPr>
        <p:spPr/>
        <p:txBody>
          <a:bodyPr anchor="ct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pl-PL"/>
              <a:t>Kliknij, aby edytować styl</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l-PL"/>
              <a:t>Kliknij, aby edytować styl</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pl-PL"/>
              <a:t>Kliknij, aby edytować styl</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pl-PL"/>
              <a:t>Kliknij, aby edytować styl</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l-PL"/>
              <a:t>Kliknij ikonę, aby dodać obraz</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1/20/2026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braz panoramiczny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pl-PL"/>
              <a:t>Kliknij, aby edytować styl</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l-PL"/>
              <a:t>Kliknij ikonę, aby dodać obraz</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ytuł i podpis">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pl-PL"/>
              <a:t>Kliknij, aby edytować styl</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ferta z podpisem">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pl-PL"/>
              <a:t>Kliknij, aby edytować styl</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l-PL"/>
              <a:t>Kliknij, aby edytować style wzorca tekstu</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pl-PL"/>
              <a:t>Kliknij, aby edytować style wzorca tekstu</a:t>
            </a:r>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arta nazwy">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pl-PL"/>
              <a:t>Kliknij, aby edytować styl</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pl-PL"/>
              <a:t>Kliknij, aby edytować style wzorca tekstu</a:t>
            </a:r>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Karta nazwy cytatu">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pl-PL"/>
              <a:t>Kliknij, aby edytować styl</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pl-PL"/>
              <a:t>Kliknij, aby edytować style wzorca tekstu</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rawda lub fałsz">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pl-PL"/>
              <a:t>Kliknij, aby edytować styl</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pl-PL"/>
              <a:t>Kliknij, aby edytować style wzorca tekstu</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pl-PL"/>
              <a:t>Kliknij, aby edytować styl</a:t>
            </a:r>
            <a:endParaRPr lang="en-US" dirty="0"/>
          </a:p>
        </p:txBody>
      </p:sp>
      <p:sp>
        <p:nvSpPr>
          <p:cNvPr id="3" name="Vertical Text Placeholder 2"/>
          <p:cNvSpPr>
            <a:spLocks noGrp="1"/>
          </p:cNvSpPr>
          <p:nvPr>
            <p:ph type="body" orient="vert" idx="1"/>
          </p:nvPr>
        </p:nvSpPr>
        <p:spPr/>
        <p:txBody>
          <a:bodyPr vert="eaVert" ancho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pl-PL"/>
              <a:t>Kliknij, aby edytować styl</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pl-PL"/>
              <a:t>Kliknij, aby edytować styl</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1/20/2026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621AE35-24AC-6DDF-864A-93588C2BD634}"/>
              </a:ext>
            </a:extLst>
          </p:cNvPr>
          <p:cNvSpPr>
            <a:spLocks noGrp="1"/>
          </p:cNvSpPr>
          <p:nvPr>
            <p:ph type="ctrTitle"/>
          </p:nvPr>
        </p:nvSpPr>
        <p:spPr/>
        <p:txBody>
          <a:bodyPr/>
          <a:lstStyle/>
          <a:p>
            <a:r>
              <a:rPr lang="pl-PL" dirty="0"/>
              <a:t>Kariera Roberta Kubicy w F1 i dalsze losy</a:t>
            </a:r>
            <a:br>
              <a:rPr lang="pl-PL" dirty="0"/>
            </a:br>
            <a:endParaRPr lang="pl-PL" dirty="0"/>
          </a:p>
        </p:txBody>
      </p:sp>
      <p:sp>
        <p:nvSpPr>
          <p:cNvPr id="3" name="Podtytuł 2">
            <a:extLst>
              <a:ext uri="{FF2B5EF4-FFF2-40B4-BE49-F238E27FC236}">
                <a16:creationId xmlns:a16="http://schemas.microsoft.com/office/drawing/2014/main" id="{F2523286-1C05-8E26-EDEA-16731311590C}"/>
              </a:ext>
            </a:extLst>
          </p:cNvPr>
          <p:cNvSpPr>
            <a:spLocks noGrp="1"/>
          </p:cNvSpPr>
          <p:nvPr>
            <p:ph type="subTitle" idx="1"/>
          </p:nvPr>
        </p:nvSpPr>
        <p:spPr/>
        <p:txBody>
          <a:bodyPr/>
          <a:lstStyle/>
          <a:p>
            <a:r>
              <a:rPr lang="pl-PL" dirty="0"/>
              <a:t>Autor: Filip Gmyrek</a:t>
            </a:r>
          </a:p>
        </p:txBody>
      </p:sp>
    </p:spTree>
    <p:extLst>
      <p:ext uri="{BB962C8B-B14F-4D97-AF65-F5344CB8AC3E}">
        <p14:creationId xmlns:p14="http://schemas.microsoft.com/office/powerpoint/2010/main" val="2012022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19E14D1-327B-266F-38D4-B9E63DF8D8C7}"/>
              </a:ext>
            </a:extLst>
          </p:cNvPr>
          <p:cNvSpPr>
            <a:spLocks noGrp="1"/>
          </p:cNvSpPr>
          <p:nvPr>
            <p:ph type="ctrTitle"/>
          </p:nvPr>
        </p:nvSpPr>
        <p:spPr>
          <a:xfrm>
            <a:off x="1404963" y="3429000"/>
            <a:ext cx="8676222" cy="3200400"/>
          </a:xfrm>
        </p:spPr>
        <p:txBody>
          <a:bodyPr>
            <a:normAutofit fontScale="90000"/>
          </a:bodyPr>
          <a:lstStyle/>
          <a:p>
            <a:r>
              <a:rPr lang="pl-PL" dirty="0"/>
              <a:t>Plan prezentacji</a:t>
            </a:r>
            <a:br>
              <a:rPr lang="pl-PL" dirty="0"/>
            </a:br>
            <a:r>
              <a:rPr lang="pl-PL" dirty="0"/>
              <a:t>Wprowadzenie</a:t>
            </a:r>
            <a:br>
              <a:rPr lang="pl-PL" dirty="0"/>
            </a:br>
            <a:r>
              <a:rPr lang="pl-PL" dirty="0"/>
              <a:t>Kariera w F1</a:t>
            </a:r>
            <a:br>
              <a:rPr lang="pl-PL" dirty="0"/>
            </a:br>
            <a:r>
              <a:rPr lang="pl-PL" dirty="0"/>
              <a:t>Powrót do F1</a:t>
            </a:r>
            <a:br>
              <a:rPr lang="pl-PL" dirty="0"/>
            </a:br>
            <a:r>
              <a:rPr lang="pl-PL" dirty="0"/>
              <a:t>Dodatkowe aktywności</a:t>
            </a:r>
            <a:br>
              <a:rPr lang="pl-PL" dirty="0"/>
            </a:br>
            <a:r>
              <a:rPr lang="pl-PL" dirty="0"/>
              <a:t>Wpływ na polski </a:t>
            </a:r>
            <a:r>
              <a:rPr lang="pl-PL" dirty="0" err="1"/>
              <a:t>motorsport</a:t>
            </a:r>
            <a:br>
              <a:rPr lang="pl-PL" dirty="0"/>
            </a:br>
            <a:r>
              <a:rPr lang="pl-PL" dirty="0"/>
              <a:t>Najważniejsze zwycięstwa i osiągnięcia</a:t>
            </a:r>
            <a:br>
              <a:rPr lang="pl-PL" dirty="0"/>
            </a:br>
            <a:r>
              <a:rPr lang="pl-PL" dirty="0"/>
              <a:t>Podsumowanie</a:t>
            </a:r>
          </a:p>
        </p:txBody>
      </p:sp>
    </p:spTree>
    <p:extLst>
      <p:ext uri="{BB962C8B-B14F-4D97-AF65-F5344CB8AC3E}">
        <p14:creationId xmlns:p14="http://schemas.microsoft.com/office/powerpoint/2010/main" val="473721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926C470-BE6D-1221-A4F0-19F57E712FAC}"/>
              </a:ext>
            </a:extLst>
          </p:cNvPr>
          <p:cNvSpPr>
            <a:spLocks noGrp="1"/>
          </p:cNvSpPr>
          <p:nvPr>
            <p:ph type="ctrTitle"/>
          </p:nvPr>
        </p:nvSpPr>
        <p:spPr>
          <a:xfrm>
            <a:off x="884737" y="409074"/>
            <a:ext cx="10649536" cy="5422231"/>
          </a:xfrm>
        </p:spPr>
        <p:txBody>
          <a:bodyPr>
            <a:normAutofit/>
          </a:bodyPr>
          <a:lstStyle/>
          <a:p>
            <a:r>
              <a:rPr lang="pl-PL" sz="2000" dirty="0"/>
              <a:t>Robert Kubica to postać, która na trwałe zapisała się w</a:t>
            </a:r>
            <a:br>
              <a:rPr lang="pl-PL" sz="2000" dirty="0"/>
            </a:br>
            <a:r>
              <a:rPr lang="pl-PL" sz="2000" dirty="0"/>
              <a:t>historii sportu motorowego - nie tylko jako pierwszy Polak w</a:t>
            </a:r>
            <a:br>
              <a:rPr lang="pl-PL" sz="2000" dirty="0"/>
            </a:br>
            <a:r>
              <a:rPr lang="pl-PL" sz="2000" dirty="0"/>
              <a:t>Formule 1, ale także jako symbol wytrwałości, odwagi i pasji.</a:t>
            </a:r>
            <a:br>
              <a:rPr lang="pl-PL" sz="2000" dirty="0"/>
            </a:br>
            <a:r>
              <a:rPr lang="pl-PL" sz="2000" dirty="0"/>
              <a:t>Urodził się 7 grudnia 1984 roku w Krakowie. Od najmłodszych</a:t>
            </a:r>
            <a:br>
              <a:rPr lang="pl-PL" sz="2000" dirty="0"/>
            </a:br>
            <a:r>
              <a:rPr lang="pl-PL" sz="2000" dirty="0"/>
              <a:t>lat fascynowały go samochody, a jego rodzice wspominają, że</a:t>
            </a:r>
            <a:br>
              <a:rPr lang="pl-PL" sz="2000" dirty="0"/>
            </a:br>
            <a:r>
              <a:rPr lang="pl-PL" sz="2000" dirty="0"/>
              <a:t>już jako kilkuletni chłopiec potrafił godzinami oglądać wyścigi</a:t>
            </a:r>
            <a:br>
              <a:rPr lang="pl-PL" sz="2000" dirty="0"/>
            </a:br>
            <a:r>
              <a:rPr lang="pl-PL" sz="2000" dirty="0"/>
              <a:t>i rozpoznawać marki aut po samym dźwięku silnika.</a:t>
            </a:r>
            <a:br>
              <a:rPr lang="pl-PL" sz="2000" dirty="0"/>
            </a:br>
            <a:r>
              <a:rPr lang="pl-PL" sz="2000" dirty="0"/>
              <a:t>Pierwszym poważnym krokiem w jego karierze był karting.</a:t>
            </a:r>
            <a:br>
              <a:rPr lang="pl-PL" sz="2000" dirty="0"/>
            </a:br>
            <a:r>
              <a:rPr lang="pl-PL" sz="2000" dirty="0"/>
              <a:t>Kubica zaczął ścigać się w wieku zaledwie sześciu lat, a jego</a:t>
            </a:r>
            <a:br>
              <a:rPr lang="pl-PL" sz="2000" dirty="0"/>
            </a:br>
            <a:r>
              <a:rPr lang="pl-PL" sz="2000" dirty="0"/>
              <a:t>determinacja szybko przyniosła efekty. Zdobył mistrzostwo</a:t>
            </a:r>
            <a:br>
              <a:rPr lang="pl-PL" sz="2000" dirty="0"/>
            </a:br>
            <a:r>
              <a:rPr lang="pl-PL" sz="2000" dirty="0"/>
              <a:t>Polski w 1995 i 1996 roku, a następnie przeniósł się do Włoch</a:t>
            </a:r>
            <a:br>
              <a:rPr lang="pl-PL" sz="2000" dirty="0"/>
            </a:br>
            <a:r>
              <a:rPr lang="pl-PL" sz="2000" dirty="0"/>
              <a:t>- centrum europejskiego kartingu. Tam ścigał się z przyszłymi</a:t>
            </a:r>
            <a:br>
              <a:rPr lang="pl-PL" sz="2000" dirty="0"/>
            </a:br>
            <a:r>
              <a:rPr lang="pl-PL" sz="2000" dirty="0"/>
              <a:t>gwiazdami Formuły 1, takimi jak Felipe Massa czy Fernando</a:t>
            </a:r>
            <a:br>
              <a:rPr lang="pl-PL" sz="2000" dirty="0"/>
            </a:br>
            <a:r>
              <a:rPr lang="pl-PL" sz="2000" dirty="0"/>
              <a:t>Alonso.</a:t>
            </a:r>
          </a:p>
        </p:txBody>
      </p:sp>
      <p:sp>
        <p:nvSpPr>
          <p:cNvPr id="3" name="Podtytuł 2">
            <a:extLst>
              <a:ext uri="{FF2B5EF4-FFF2-40B4-BE49-F238E27FC236}">
                <a16:creationId xmlns:a16="http://schemas.microsoft.com/office/drawing/2014/main" id="{1ADE5C44-D50A-D2A1-4808-22AEEA7FE612}"/>
              </a:ext>
            </a:extLst>
          </p:cNvPr>
          <p:cNvSpPr>
            <a:spLocks noGrp="1"/>
          </p:cNvSpPr>
          <p:nvPr>
            <p:ph type="subTitle" idx="1"/>
          </p:nvPr>
        </p:nvSpPr>
        <p:spPr>
          <a:xfrm>
            <a:off x="1558506" y="170448"/>
            <a:ext cx="8676222" cy="477253"/>
          </a:xfrm>
        </p:spPr>
        <p:txBody>
          <a:bodyPr>
            <a:noAutofit/>
          </a:bodyPr>
          <a:lstStyle/>
          <a:p>
            <a:r>
              <a:rPr lang="pl-PL" sz="4000" dirty="0"/>
              <a:t>Wprowadzenie</a:t>
            </a:r>
          </a:p>
        </p:txBody>
      </p:sp>
    </p:spTree>
    <p:extLst>
      <p:ext uri="{BB962C8B-B14F-4D97-AF65-F5344CB8AC3E}">
        <p14:creationId xmlns:p14="http://schemas.microsoft.com/office/powerpoint/2010/main" val="201667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15CF52F-C4C9-2215-2027-136C0475D2E5}"/>
              </a:ext>
            </a:extLst>
          </p:cNvPr>
          <p:cNvSpPr>
            <a:spLocks noGrp="1"/>
          </p:cNvSpPr>
          <p:nvPr>
            <p:ph type="ctrTitle"/>
          </p:nvPr>
        </p:nvSpPr>
        <p:spPr>
          <a:xfrm>
            <a:off x="1757889" y="2438401"/>
            <a:ext cx="8676222" cy="3200400"/>
          </a:xfrm>
        </p:spPr>
        <p:txBody>
          <a:bodyPr>
            <a:noAutofit/>
          </a:bodyPr>
          <a:lstStyle/>
          <a:p>
            <a:r>
              <a:rPr lang="pl-PL" sz="2000" dirty="0"/>
              <a:t>Kolejne lata przyniosły szybki awans. W 2002 roku Kubica</a:t>
            </a:r>
            <a:br>
              <a:rPr lang="pl-PL" sz="2000" dirty="0"/>
            </a:br>
            <a:r>
              <a:rPr lang="pl-PL" sz="2000" dirty="0"/>
              <a:t>zdobył Europejski Puchar Formuły Renault, co otworzyło mu</a:t>
            </a:r>
            <a:br>
              <a:rPr lang="pl-PL" sz="2000" dirty="0"/>
            </a:br>
            <a:r>
              <a:rPr lang="pl-PL" sz="2000" dirty="0"/>
              <a:t>drzwi do wyższych kategorii wyścigowych. Wkrótce pojawił się</a:t>
            </a:r>
            <a:br>
              <a:rPr lang="pl-PL" sz="2000" dirty="0"/>
            </a:br>
            <a:r>
              <a:rPr lang="pl-PL" sz="2000" dirty="0"/>
              <a:t>w Formule 3 Euro Series i Formule BMW, gdzie odnosił</a:t>
            </a:r>
            <a:br>
              <a:rPr lang="pl-PL" sz="2000" dirty="0"/>
            </a:br>
            <a:r>
              <a:rPr lang="pl-PL" sz="2000" dirty="0"/>
              <a:t>kolejne sukcesy, zdobywając reputację jednego z najbardziej</a:t>
            </a:r>
            <a:br>
              <a:rPr lang="pl-PL" sz="2000" dirty="0"/>
            </a:br>
            <a:r>
              <a:rPr lang="pl-PL" sz="2000" dirty="0"/>
              <a:t>utalentowanych młodych kierowców w Europie.</a:t>
            </a:r>
            <a:br>
              <a:rPr lang="pl-PL" sz="2000" dirty="0"/>
            </a:br>
            <a:r>
              <a:rPr lang="pl-PL" sz="2000" dirty="0"/>
              <a:t>Kubica słynął z precyzyjnego stylu jazdy i niezwykłej</a:t>
            </a:r>
            <a:br>
              <a:rPr lang="pl-PL" sz="2000" dirty="0"/>
            </a:br>
            <a:r>
              <a:rPr lang="pl-PL" sz="2000" dirty="0"/>
              <a:t>umiejętności analizy toru. Jego inżynierowie często podkreślali,</a:t>
            </a:r>
            <a:br>
              <a:rPr lang="pl-PL" sz="2000" dirty="0"/>
            </a:br>
            <a:r>
              <a:rPr lang="pl-PL" sz="2000" dirty="0"/>
              <a:t>że potrafił opisać zachowanie samochodu z dokładnością do</a:t>
            </a:r>
            <a:br>
              <a:rPr lang="pl-PL" sz="2000" dirty="0"/>
            </a:br>
            <a:r>
              <a:rPr lang="pl-PL" sz="2000" dirty="0"/>
              <a:t>pojedynczego zakrętu. Był perfekcjonistą, który dążył do</a:t>
            </a:r>
            <a:br>
              <a:rPr lang="pl-PL" sz="2000" dirty="0"/>
            </a:br>
            <a:r>
              <a:rPr lang="pl-PL" sz="2000" dirty="0"/>
              <a:t>doskonałości w każdym aspekcie.</a:t>
            </a:r>
          </a:p>
        </p:txBody>
      </p:sp>
    </p:spTree>
    <p:extLst>
      <p:ext uri="{BB962C8B-B14F-4D97-AF65-F5344CB8AC3E}">
        <p14:creationId xmlns:p14="http://schemas.microsoft.com/office/powerpoint/2010/main" val="2536031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59651D1-4DDF-6799-56AA-B61F57B022E6}"/>
              </a:ext>
            </a:extLst>
          </p:cNvPr>
          <p:cNvSpPr>
            <a:spLocks noGrp="1"/>
          </p:cNvSpPr>
          <p:nvPr>
            <p:ph type="ctrTitle"/>
          </p:nvPr>
        </p:nvSpPr>
        <p:spPr>
          <a:xfrm>
            <a:off x="1757889" y="1957138"/>
            <a:ext cx="8676222" cy="3200400"/>
          </a:xfrm>
        </p:spPr>
        <p:txBody>
          <a:bodyPr>
            <a:noAutofit/>
          </a:bodyPr>
          <a:lstStyle/>
          <a:p>
            <a:r>
              <a:rPr lang="pl-PL" sz="2000" dirty="0"/>
              <a:t>Dzięki temu podejściu szybko zyskał uznanie w świecie</a:t>
            </a:r>
            <a:br>
              <a:rPr lang="pl-PL" sz="2000" dirty="0"/>
            </a:br>
            <a:r>
              <a:rPr lang="pl-PL" sz="2000" dirty="0" err="1"/>
              <a:t>motorsportu</a:t>
            </a:r>
            <a:r>
              <a:rPr lang="pl-PL" sz="2000" dirty="0"/>
              <a:t> i został zauważony przez zespoły Formuły 1. W</a:t>
            </a:r>
            <a:br>
              <a:rPr lang="pl-PL" sz="2000" dirty="0"/>
            </a:br>
            <a:r>
              <a:rPr lang="pl-PL" sz="2000" dirty="0"/>
              <a:t>2005 roku został kierowcą testowym BMW </a:t>
            </a:r>
            <a:r>
              <a:rPr lang="pl-PL" sz="2000" dirty="0" err="1"/>
              <a:t>Sauber</a:t>
            </a:r>
            <a:r>
              <a:rPr lang="pl-PL" sz="2000" dirty="0"/>
              <a:t>, a już rok</a:t>
            </a:r>
            <a:br>
              <a:rPr lang="pl-PL" sz="2000" dirty="0"/>
            </a:br>
            <a:r>
              <a:rPr lang="pl-PL" sz="2000" dirty="0"/>
              <a:t>później zadebiutował w wyścigu Grand Prix. Dla Polski był to</a:t>
            </a:r>
            <a:br>
              <a:rPr lang="pl-PL" sz="2000" dirty="0"/>
            </a:br>
            <a:r>
              <a:rPr lang="pl-PL" sz="2000" dirty="0"/>
              <a:t>historyczny moment - po raz pierwszy nasz kraj miał swojego</a:t>
            </a:r>
            <a:br>
              <a:rPr lang="pl-PL" sz="2000" dirty="0"/>
            </a:br>
            <a:r>
              <a:rPr lang="pl-PL" sz="2000" dirty="0"/>
              <a:t>reprezentanta w najbardziej prestiżowej serii wyścigowej świata.</a:t>
            </a:r>
            <a:br>
              <a:rPr lang="pl-PL" sz="2000" dirty="0"/>
            </a:br>
            <a:r>
              <a:rPr lang="pl-PL" sz="2000" dirty="0"/>
              <a:t>Kubica stał się nie tylko sportowcem, ale również inspiracją dla</a:t>
            </a:r>
            <a:br>
              <a:rPr lang="pl-PL" sz="2000" dirty="0"/>
            </a:br>
            <a:r>
              <a:rPr lang="pl-PL" sz="2000" dirty="0"/>
              <a:t>całego pokolenia </a:t>
            </a:r>
            <a:r>
              <a:rPr lang="pl-PL" sz="2000" dirty="0" err="1"/>
              <a:t>młodychludzi</a:t>
            </a:r>
            <a:r>
              <a:rPr lang="pl-PL" sz="2000" dirty="0"/>
              <a:t>, którzy dzięki niemu zaczęli</a:t>
            </a:r>
            <a:br>
              <a:rPr lang="pl-PL" sz="2000" dirty="0"/>
            </a:br>
            <a:r>
              <a:rPr lang="pl-PL" sz="2000" dirty="0"/>
              <a:t>interesować się kartingiem i wyścigami samochodowymi.</a:t>
            </a:r>
          </a:p>
        </p:txBody>
      </p:sp>
    </p:spTree>
    <p:extLst>
      <p:ext uri="{BB962C8B-B14F-4D97-AF65-F5344CB8AC3E}">
        <p14:creationId xmlns:p14="http://schemas.microsoft.com/office/powerpoint/2010/main" val="2319271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3A9E8D5-1F3C-E0FA-850A-2D8D0208AE93}"/>
              </a:ext>
            </a:extLst>
          </p:cNvPr>
          <p:cNvSpPr>
            <a:spLocks noGrp="1"/>
          </p:cNvSpPr>
          <p:nvPr>
            <p:ph type="ctrTitle"/>
          </p:nvPr>
        </p:nvSpPr>
        <p:spPr>
          <a:xfrm>
            <a:off x="1764766" y="0"/>
            <a:ext cx="8676222" cy="4981072"/>
          </a:xfrm>
        </p:spPr>
        <p:txBody>
          <a:bodyPr>
            <a:normAutofit/>
          </a:bodyPr>
          <a:lstStyle/>
          <a:p>
            <a:r>
              <a:rPr lang="pl-PL" sz="2000" dirty="0"/>
              <a:t>Kubica zadebiutował w F1 w 2006 roku w zespole BMW</a:t>
            </a:r>
            <a:br>
              <a:rPr lang="pl-PL" sz="2000" dirty="0"/>
            </a:br>
            <a:r>
              <a:rPr lang="pl-PL" sz="2000" dirty="0" err="1"/>
              <a:t>Sauber</a:t>
            </a:r>
            <a:r>
              <a:rPr lang="pl-PL" sz="2000" dirty="0"/>
              <a:t>. Jego dynamiczna jazda i szybkie czasy </a:t>
            </a:r>
            <a:r>
              <a:rPr lang="pl-PL" sz="2000" dirty="0" err="1"/>
              <a:t>okrążeń</a:t>
            </a:r>
            <a:r>
              <a:rPr lang="pl-PL" sz="2000" dirty="0"/>
              <a:t> szybko</a:t>
            </a:r>
            <a:br>
              <a:rPr lang="pl-PL" sz="2000" dirty="0"/>
            </a:br>
            <a:r>
              <a:rPr lang="pl-PL" sz="2000" dirty="0"/>
              <a:t>przyniosły mu uznanie w stawce. W ciągu kolejnych sezonów</a:t>
            </a:r>
            <a:br>
              <a:rPr lang="pl-PL" sz="2000" dirty="0"/>
            </a:br>
            <a:r>
              <a:rPr lang="pl-PL" sz="2000" dirty="0"/>
              <a:t>zdobywał miejsca na podium, imponując nie tylko prędkością,</a:t>
            </a:r>
            <a:br>
              <a:rPr lang="pl-PL" sz="2000" dirty="0"/>
            </a:br>
            <a:r>
              <a:rPr lang="pl-PL" sz="2000" dirty="0"/>
              <a:t>ale i strategicznym myśleniem.</a:t>
            </a:r>
          </a:p>
        </p:txBody>
      </p:sp>
      <p:sp>
        <p:nvSpPr>
          <p:cNvPr id="3" name="Podtytuł 2">
            <a:extLst>
              <a:ext uri="{FF2B5EF4-FFF2-40B4-BE49-F238E27FC236}">
                <a16:creationId xmlns:a16="http://schemas.microsoft.com/office/drawing/2014/main" id="{9AEF30A8-5986-9397-4A13-83CC2FAE825E}"/>
              </a:ext>
            </a:extLst>
          </p:cNvPr>
          <p:cNvSpPr>
            <a:spLocks noGrp="1"/>
          </p:cNvSpPr>
          <p:nvPr>
            <p:ph type="subTitle" idx="1"/>
          </p:nvPr>
        </p:nvSpPr>
        <p:spPr>
          <a:xfrm>
            <a:off x="1751012" y="609601"/>
            <a:ext cx="8676222" cy="878305"/>
          </a:xfrm>
        </p:spPr>
        <p:txBody>
          <a:bodyPr>
            <a:normAutofit/>
          </a:bodyPr>
          <a:lstStyle/>
          <a:p>
            <a:r>
              <a:rPr lang="pl-PL" sz="3600" dirty="0"/>
              <a:t>KARIERA W F1</a:t>
            </a:r>
          </a:p>
        </p:txBody>
      </p:sp>
    </p:spTree>
    <p:extLst>
      <p:ext uri="{BB962C8B-B14F-4D97-AF65-F5344CB8AC3E}">
        <p14:creationId xmlns:p14="http://schemas.microsoft.com/office/powerpoint/2010/main" val="2915932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5EEBB6D-2200-D591-D3F5-C80DD8B587AB}"/>
              </a:ext>
            </a:extLst>
          </p:cNvPr>
          <p:cNvSpPr>
            <a:spLocks noGrp="1"/>
          </p:cNvSpPr>
          <p:nvPr>
            <p:ph type="title"/>
          </p:nvPr>
        </p:nvSpPr>
        <p:spPr/>
        <p:txBody>
          <a:bodyPr/>
          <a:lstStyle/>
          <a:p>
            <a:r>
              <a:rPr lang="pl-PL" dirty="0"/>
              <a:t>Statystyki Kubicy w latach 2006-2010</a:t>
            </a:r>
          </a:p>
        </p:txBody>
      </p:sp>
      <p:graphicFrame>
        <p:nvGraphicFramePr>
          <p:cNvPr id="4" name="Symbol zastępczy zawartości 3">
            <a:extLst>
              <a:ext uri="{FF2B5EF4-FFF2-40B4-BE49-F238E27FC236}">
                <a16:creationId xmlns:a16="http://schemas.microsoft.com/office/drawing/2014/main" id="{BB5B2548-08B7-EFF6-25E6-D13AA7BCD507}"/>
              </a:ext>
            </a:extLst>
          </p:cNvPr>
          <p:cNvGraphicFramePr>
            <a:graphicFrameLocks noGrp="1"/>
          </p:cNvGraphicFramePr>
          <p:nvPr>
            <p:ph idx="1"/>
            <p:extLst>
              <p:ext uri="{D42A27DB-BD31-4B8C-83A1-F6EECF244321}">
                <p14:modId xmlns:p14="http://schemas.microsoft.com/office/powerpoint/2010/main" val="3085761882"/>
              </p:ext>
            </p:extLst>
          </p:nvPr>
        </p:nvGraphicFramePr>
        <p:xfrm>
          <a:off x="1141413" y="2667000"/>
          <a:ext cx="9906000" cy="2225040"/>
        </p:xfrm>
        <a:graphic>
          <a:graphicData uri="http://schemas.openxmlformats.org/drawingml/2006/table">
            <a:tbl>
              <a:tblPr firstRow="1" bandRow="1">
                <a:tableStyleId>{5C22544A-7EE6-4342-B048-85BDC9FD1C3A}</a:tableStyleId>
              </a:tblPr>
              <a:tblGrid>
                <a:gridCol w="3302000">
                  <a:extLst>
                    <a:ext uri="{9D8B030D-6E8A-4147-A177-3AD203B41FA5}">
                      <a16:colId xmlns:a16="http://schemas.microsoft.com/office/drawing/2014/main" val="4015085966"/>
                    </a:ext>
                  </a:extLst>
                </a:gridCol>
                <a:gridCol w="3302000">
                  <a:extLst>
                    <a:ext uri="{9D8B030D-6E8A-4147-A177-3AD203B41FA5}">
                      <a16:colId xmlns:a16="http://schemas.microsoft.com/office/drawing/2014/main" val="1906745488"/>
                    </a:ext>
                  </a:extLst>
                </a:gridCol>
                <a:gridCol w="3302000">
                  <a:extLst>
                    <a:ext uri="{9D8B030D-6E8A-4147-A177-3AD203B41FA5}">
                      <a16:colId xmlns:a16="http://schemas.microsoft.com/office/drawing/2014/main" val="3205223655"/>
                    </a:ext>
                  </a:extLst>
                </a:gridCol>
              </a:tblGrid>
              <a:tr h="370840">
                <a:tc>
                  <a:txBody>
                    <a:bodyPr/>
                    <a:lstStyle/>
                    <a:p>
                      <a:r>
                        <a:rPr lang="pl-PL" dirty="0"/>
                        <a:t>Sezon</a:t>
                      </a:r>
                    </a:p>
                  </a:txBody>
                  <a:tcPr/>
                </a:tc>
                <a:tc>
                  <a:txBody>
                    <a:bodyPr/>
                    <a:lstStyle/>
                    <a:p>
                      <a:r>
                        <a:rPr lang="pl-PL" dirty="0"/>
                        <a:t>Zespół</a:t>
                      </a:r>
                    </a:p>
                  </a:txBody>
                  <a:tcPr/>
                </a:tc>
                <a:tc>
                  <a:txBody>
                    <a:bodyPr/>
                    <a:lstStyle/>
                    <a:p>
                      <a:r>
                        <a:rPr lang="pl-PL" dirty="0"/>
                        <a:t>Najlepszy wynik</a:t>
                      </a:r>
                    </a:p>
                  </a:txBody>
                  <a:tcPr/>
                </a:tc>
                <a:extLst>
                  <a:ext uri="{0D108BD9-81ED-4DB2-BD59-A6C34878D82A}">
                    <a16:rowId xmlns:a16="http://schemas.microsoft.com/office/drawing/2014/main" val="497567052"/>
                  </a:ext>
                </a:extLst>
              </a:tr>
              <a:tr h="370840">
                <a:tc>
                  <a:txBody>
                    <a:bodyPr/>
                    <a:lstStyle/>
                    <a:p>
                      <a:r>
                        <a:rPr lang="pl-PL" dirty="0"/>
                        <a:t>2006</a:t>
                      </a:r>
                    </a:p>
                  </a:txBody>
                  <a:tcPr/>
                </a:tc>
                <a:tc>
                  <a:txBody>
                    <a:bodyPr/>
                    <a:lstStyle/>
                    <a:p>
                      <a:r>
                        <a:rPr lang="pl-PL" dirty="0"/>
                        <a:t>BMW </a:t>
                      </a:r>
                      <a:r>
                        <a:rPr lang="pl-PL" dirty="0" err="1"/>
                        <a:t>Sauber</a:t>
                      </a:r>
                      <a:endParaRPr lang="pl-PL" dirty="0"/>
                    </a:p>
                  </a:txBody>
                  <a:tcPr/>
                </a:tc>
                <a:tc>
                  <a:txBody>
                    <a:bodyPr/>
                    <a:lstStyle/>
                    <a:p>
                      <a:r>
                        <a:rPr lang="pl-PL" dirty="0"/>
                        <a:t>P3 GP Włoch</a:t>
                      </a:r>
                    </a:p>
                  </a:txBody>
                  <a:tcPr/>
                </a:tc>
                <a:extLst>
                  <a:ext uri="{0D108BD9-81ED-4DB2-BD59-A6C34878D82A}">
                    <a16:rowId xmlns:a16="http://schemas.microsoft.com/office/drawing/2014/main" val="1744302787"/>
                  </a:ext>
                </a:extLst>
              </a:tr>
              <a:tr h="370840">
                <a:tc>
                  <a:txBody>
                    <a:bodyPr/>
                    <a:lstStyle/>
                    <a:p>
                      <a:r>
                        <a:rPr lang="pl-PL" dirty="0"/>
                        <a:t>2007</a:t>
                      </a:r>
                    </a:p>
                  </a:txBody>
                  <a:tcPr/>
                </a:tc>
                <a:tc>
                  <a:txBody>
                    <a:bodyPr/>
                    <a:lstStyle/>
                    <a:p>
                      <a:r>
                        <a:rPr lang="pl-PL" dirty="0"/>
                        <a:t>BMW </a:t>
                      </a:r>
                      <a:r>
                        <a:rPr lang="pl-PL" dirty="0" err="1"/>
                        <a:t>Sauber</a:t>
                      </a:r>
                      <a:endParaRPr lang="pl-PL" dirty="0"/>
                    </a:p>
                  </a:txBody>
                  <a:tcPr/>
                </a:tc>
                <a:tc>
                  <a:txBody>
                    <a:bodyPr/>
                    <a:lstStyle/>
                    <a:p>
                      <a:r>
                        <a:rPr lang="pl-PL" dirty="0"/>
                        <a:t>P4 GP Hiszpanii, Francji i UK</a:t>
                      </a:r>
                    </a:p>
                  </a:txBody>
                  <a:tcPr/>
                </a:tc>
                <a:extLst>
                  <a:ext uri="{0D108BD9-81ED-4DB2-BD59-A6C34878D82A}">
                    <a16:rowId xmlns:a16="http://schemas.microsoft.com/office/drawing/2014/main" val="3162554763"/>
                  </a:ext>
                </a:extLst>
              </a:tr>
              <a:tr h="370840">
                <a:tc>
                  <a:txBody>
                    <a:bodyPr/>
                    <a:lstStyle/>
                    <a:p>
                      <a:r>
                        <a:rPr lang="pl-PL" dirty="0"/>
                        <a:t>2008</a:t>
                      </a:r>
                    </a:p>
                  </a:txBody>
                  <a:tcPr/>
                </a:tc>
                <a:tc>
                  <a:txBody>
                    <a:bodyPr/>
                    <a:lstStyle/>
                    <a:p>
                      <a:r>
                        <a:rPr lang="pl-PL" dirty="0"/>
                        <a:t>BMW </a:t>
                      </a:r>
                      <a:r>
                        <a:rPr lang="pl-PL" dirty="0" err="1"/>
                        <a:t>Sauber</a:t>
                      </a:r>
                      <a:endParaRPr lang="pl-PL" dirty="0"/>
                    </a:p>
                  </a:txBody>
                  <a:tcPr/>
                </a:tc>
                <a:tc>
                  <a:txBody>
                    <a:bodyPr/>
                    <a:lstStyle/>
                    <a:p>
                      <a:r>
                        <a:rPr lang="pl-PL" dirty="0"/>
                        <a:t>P1 GP Kanady</a:t>
                      </a:r>
                    </a:p>
                  </a:txBody>
                  <a:tcPr/>
                </a:tc>
                <a:extLst>
                  <a:ext uri="{0D108BD9-81ED-4DB2-BD59-A6C34878D82A}">
                    <a16:rowId xmlns:a16="http://schemas.microsoft.com/office/drawing/2014/main" val="1734615121"/>
                  </a:ext>
                </a:extLst>
              </a:tr>
              <a:tr h="370840">
                <a:tc>
                  <a:txBody>
                    <a:bodyPr/>
                    <a:lstStyle/>
                    <a:p>
                      <a:r>
                        <a:rPr lang="pl-PL" dirty="0"/>
                        <a:t>2009</a:t>
                      </a:r>
                    </a:p>
                  </a:txBody>
                  <a:tcPr/>
                </a:tc>
                <a:tc>
                  <a:txBody>
                    <a:bodyPr/>
                    <a:lstStyle/>
                    <a:p>
                      <a:r>
                        <a:rPr lang="pl-PL" dirty="0"/>
                        <a:t>BMW </a:t>
                      </a:r>
                      <a:r>
                        <a:rPr lang="pl-PL" dirty="0" err="1"/>
                        <a:t>Sauber</a:t>
                      </a:r>
                      <a:endParaRPr lang="pl-PL" dirty="0"/>
                    </a:p>
                  </a:txBody>
                  <a:tcPr/>
                </a:tc>
                <a:tc>
                  <a:txBody>
                    <a:bodyPr/>
                    <a:lstStyle/>
                    <a:p>
                      <a:r>
                        <a:rPr lang="pl-PL" dirty="0"/>
                        <a:t>P2 GP Brazylii</a:t>
                      </a:r>
                    </a:p>
                  </a:txBody>
                  <a:tcPr/>
                </a:tc>
                <a:extLst>
                  <a:ext uri="{0D108BD9-81ED-4DB2-BD59-A6C34878D82A}">
                    <a16:rowId xmlns:a16="http://schemas.microsoft.com/office/drawing/2014/main" val="3817220121"/>
                  </a:ext>
                </a:extLst>
              </a:tr>
              <a:tr h="370840">
                <a:tc>
                  <a:txBody>
                    <a:bodyPr/>
                    <a:lstStyle/>
                    <a:p>
                      <a:r>
                        <a:rPr lang="pl-PL" dirty="0"/>
                        <a:t>2010</a:t>
                      </a:r>
                    </a:p>
                  </a:txBody>
                  <a:tcPr/>
                </a:tc>
                <a:tc>
                  <a:txBody>
                    <a:bodyPr/>
                    <a:lstStyle/>
                    <a:p>
                      <a:r>
                        <a:rPr lang="pl-PL" dirty="0"/>
                        <a:t>Renault</a:t>
                      </a:r>
                    </a:p>
                  </a:txBody>
                  <a:tcPr/>
                </a:tc>
                <a:tc>
                  <a:txBody>
                    <a:bodyPr/>
                    <a:lstStyle/>
                    <a:p>
                      <a:r>
                        <a:rPr lang="pl-PL" dirty="0"/>
                        <a:t>P2 GP Australii</a:t>
                      </a:r>
                    </a:p>
                  </a:txBody>
                  <a:tcPr/>
                </a:tc>
                <a:extLst>
                  <a:ext uri="{0D108BD9-81ED-4DB2-BD59-A6C34878D82A}">
                    <a16:rowId xmlns:a16="http://schemas.microsoft.com/office/drawing/2014/main" val="2413809995"/>
                  </a:ext>
                </a:extLst>
              </a:tr>
            </a:tbl>
          </a:graphicData>
        </a:graphic>
      </p:graphicFrame>
    </p:spTree>
    <p:extLst>
      <p:ext uri="{BB962C8B-B14F-4D97-AF65-F5344CB8AC3E}">
        <p14:creationId xmlns:p14="http://schemas.microsoft.com/office/powerpoint/2010/main" val="2918035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189834A-0563-7CDB-327F-89C530B9C322}"/>
              </a:ext>
            </a:extLst>
          </p:cNvPr>
          <p:cNvSpPr>
            <a:spLocks noGrp="1"/>
          </p:cNvSpPr>
          <p:nvPr>
            <p:ph type="ctrTitle"/>
          </p:nvPr>
        </p:nvSpPr>
        <p:spPr>
          <a:xfrm>
            <a:off x="1757889" y="-689810"/>
            <a:ext cx="8676222" cy="3200400"/>
          </a:xfrm>
        </p:spPr>
        <p:txBody>
          <a:bodyPr>
            <a:normAutofit/>
          </a:bodyPr>
          <a:lstStyle/>
          <a:p>
            <a:r>
              <a:rPr lang="pl-PL" sz="2000" dirty="0"/>
              <a:t>Kubica zasłynął przede wszystkim dzięki wygranej w Grand</a:t>
            </a:r>
            <a:br>
              <a:rPr lang="pl-PL" sz="2000" dirty="0"/>
            </a:br>
            <a:r>
              <a:rPr lang="pl-PL" sz="2000" dirty="0"/>
              <a:t>Prix Kanady 2008 odnosząc swoje pierwsze i ostatnie</a:t>
            </a:r>
            <a:br>
              <a:rPr lang="pl-PL" sz="2000" dirty="0"/>
            </a:br>
            <a:r>
              <a:rPr lang="pl-PL" sz="2000" dirty="0" err="1"/>
              <a:t>zwysicięstwo</a:t>
            </a:r>
            <a:r>
              <a:rPr lang="pl-PL" sz="2000" dirty="0"/>
              <a:t> w F1.</a:t>
            </a:r>
            <a:br>
              <a:rPr lang="pl-PL" sz="2000" dirty="0"/>
            </a:br>
            <a:r>
              <a:rPr lang="pl-PL" sz="2000" dirty="0"/>
              <a:t>Wypadek w 2011 roku podczas rajdu </a:t>
            </a:r>
            <a:r>
              <a:rPr lang="pl-PL" sz="2000" dirty="0" err="1"/>
              <a:t>Ronde</a:t>
            </a:r>
            <a:r>
              <a:rPr lang="pl-PL" sz="2000" dirty="0"/>
              <a:t> di Andora,</a:t>
            </a:r>
            <a:br>
              <a:rPr lang="pl-PL" sz="2000" dirty="0"/>
            </a:br>
            <a:r>
              <a:rPr lang="pl-PL" sz="2000" dirty="0"/>
              <a:t>spowodował poważne obrażenia ręki, co wykluczyło go z</a:t>
            </a:r>
            <a:br>
              <a:rPr lang="pl-PL" sz="2000" dirty="0"/>
            </a:br>
            <a:r>
              <a:rPr lang="pl-PL" sz="2000" dirty="0"/>
              <a:t>wyścigów F1 na kilka lat. </a:t>
            </a:r>
            <a:r>
              <a:rPr lang="pl-PL" sz="2000" dirty="0" err="1"/>
              <a:t>Rehailitacja</a:t>
            </a:r>
            <a:r>
              <a:rPr lang="pl-PL" sz="2000" dirty="0"/>
              <a:t> była długa i trudna, a</a:t>
            </a:r>
            <a:br>
              <a:rPr lang="pl-PL" sz="2000" dirty="0"/>
            </a:br>
            <a:r>
              <a:rPr lang="pl-PL" sz="2000" dirty="0"/>
              <a:t>powrót wydawał się nierealny.</a:t>
            </a:r>
          </a:p>
        </p:txBody>
      </p:sp>
      <p:sp>
        <p:nvSpPr>
          <p:cNvPr id="4" name="pole tekstowe 3">
            <a:extLst>
              <a:ext uri="{FF2B5EF4-FFF2-40B4-BE49-F238E27FC236}">
                <a16:creationId xmlns:a16="http://schemas.microsoft.com/office/drawing/2014/main" id="{DC321208-C02D-9024-96F1-A53D3D9BE278}"/>
              </a:ext>
            </a:extLst>
          </p:cNvPr>
          <p:cNvSpPr txBox="1"/>
          <p:nvPr/>
        </p:nvSpPr>
        <p:spPr>
          <a:xfrm>
            <a:off x="5021179" y="6160168"/>
            <a:ext cx="1627369" cy="369332"/>
          </a:xfrm>
          <a:prstGeom prst="rect">
            <a:avLst/>
          </a:prstGeom>
          <a:noFill/>
        </p:spPr>
        <p:txBody>
          <a:bodyPr wrap="none" rtlCol="0">
            <a:spAutoFit/>
          </a:bodyPr>
          <a:lstStyle/>
          <a:p>
            <a:r>
              <a:rPr lang="pl-PL" dirty="0" err="1"/>
              <a:t>Zdjeci</a:t>
            </a:r>
            <a:r>
              <a:rPr lang="pl-PL" dirty="0"/>
              <a:t> </a:t>
            </a:r>
            <a:r>
              <a:rPr lang="pl-PL" dirty="0" err="1"/>
              <a:t>bolida</a:t>
            </a:r>
            <a:endParaRPr lang="pl-PL" dirty="0"/>
          </a:p>
        </p:txBody>
      </p:sp>
    </p:spTree>
    <p:extLst>
      <p:ext uri="{BB962C8B-B14F-4D97-AF65-F5344CB8AC3E}">
        <p14:creationId xmlns:p14="http://schemas.microsoft.com/office/powerpoint/2010/main" val="1919468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061E7B4-E60D-5692-4AEC-162A7C5492A4}"/>
              </a:ext>
            </a:extLst>
          </p:cNvPr>
          <p:cNvSpPr>
            <a:spLocks noGrp="1"/>
          </p:cNvSpPr>
          <p:nvPr>
            <p:ph type="ctrTitle"/>
          </p:nvPr>
        </p:nvSpPr>
        <p:spPr>
          <a:xfrm>
            <a:off x="1764766" y="2598821"/>
            <a:ext cx="8676222" cy="3200400"/>
          </a:xfrm>
        </p:spPr>
        <p:txBody>
          <a:bodyPr>
            <a:noAutofit/>
          </a:bodyPr>
          <a:lstStyle/>
          <a:p>
            <a:pPr algn="l"/>
            <a:r>
              <a:rPr lang="pl-PL" sz="2000" dirty="0"/>
              <a:t>Po długiej i wymagającej rehabilitacji Robert Kubica w 2019</a:t>
            </a:r>
            <a:br>
              <a:rPr lang="pl-PL" sz="2000" dirty="0"/>
            </a:br>
            <a:r>
              <a:rPr lang="pl-PL" sz="2000" dirty="0"/>
              <a:t>roku ponownie zasiadł za kierownicą bolidu Formuły 1,</a:t>
            </a:r>
            <a:br>
              <a:rPr lang="pl-PL" sz="2000" dirty="0"/>
            </a:br>
            <a:r>
              <a:rPr lang="pl-PL" sz="2000" dirty="0"/>
              <a:t>reprezentując zespół Williams. Jego powrót do stawki był</a:t>
            </a:r>
            <a:br>
              <a:rPr lang="pl-PL" sz="2000" dirty="0"/>
            </a:br>
            <a:r>
              <a:rPr lang="pl-PL" sz="2000" dirty="0"/>
              <a:t>jednym z najbardziej emocjonujących momentów w historii współczesnego </a:t>
            </a:r>
            <a:r>
              <a:rPr lang="pl-PL" sz="2000" dirty="0" err="1"/>
              <a:t>motorsportu</a:t>
            </a:r>
            <a:r>
              <a:rPr lang="pl-PL" sz="2000" dirty="0"/>
              <a:t>. Wielu ekspertów uważało, że po tak poważnym wypadku nigdy nie będzie w stanie wrócić do rywalizacji na najwyższym poziomie, jednak Kubica po raz kolejny udowodnił, że dla niego nie ma rzeczy niemożliwych. Pomimo że bolid Williamsa nie był w pełni konkurencyjny, sam fakt powrotu </a:t>
            </a:r>
            <a:r>
              <a:rPr lang="pl-PL" sz="2000" dirty="0" err="1"/>
              <a:t>polaka</a:t>
            </a:r>
            <a:r>
              <a:rPr lang="pl-PL" sz="2000" dirty="0"/>
              <a:t> do ścigania był ogromnym sukcesem. Jego determinacja, koncentracja i doświadczenie sprawiły, że wzbudził podziw zarówno wśród rywali, jak i kibiców na całym świecie.</a:t>
            </a:r>
          </a:p>
        </p:txBody>
      </p:sp>
      <p:sp>
        <p:nvSpPr>
          <p:cNvPr id="3" name="Podtytuł 2">
            <a:extLst>
              <a:ext uri="{FF2B5EF4-FFF2-40B4-BE49-F238E27FC236}">
                <a16:creationId xmlns:a16="http://schemas.microsoft.com/office/drawing/2014/main" id="{76CA715E-D729-3455-F201-AA85162025CA}"/>
              </a:ext>
            </a:extLst>
          </p:cNvPr>
          <p:cNvSpPr>
            <a:spLocks noGrp="1"/>
          </p:cNvSpPr>
          <p:nvPr>
            <p:ph type="subTitle" idx="1"/>
          </p:nvPr>
        </p:nvSpPr>
        <p:spPr>
          <a:xfrm>
            <a:off x="1764766" y="356937"/>
            <a:ext cx="8676222" cy="862263"/>
          </a:xfrm>
        </p:spPr>
        <p:txBody>
          <a:bodyPr>
            <a:normAutofit/>
          </a:bodyPr>
          <a:lstStyle/>
          <a:p>
            <a:r>
              <a:rPr lang="pl-PL" sz="3600" dirty="0"/>
              <a:t>Powrót do f1</a:t>
            </a:r>
          </a:p>
        </p:txBody>
      </p:sp>
    </p:spTree>
    <p:extLst>
      <p:ext uri="{BB962C8B-B14F-4D97-AF65-F5344CB8AC3E}">
        <p14:creationId xmlns:p14="http://schemas.microsoft.com/office/powerpoint/2010/main" val="681269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6E6365E-974D-361A-2A44-AE5F69905CA2}"/>
              </a:ext>
            </a:extLst>
          </p:cNvPr>
          <p:cNvSpPr>
            <a:spLocks noGrp="1"/>
          </p:cNvSpPr>
          <p:nvPr>
            <p:ph type="ctrTitle"/>
          </p:nvPr>
        </p:nvSpPr>
        <p:spPr>
          <a:xfrm>
            <a:off x="1879349" y="2113548"/>
            <a:ext cx="8676222" cy="3200400"/>
          </a:xfrm>
        </p:spPr>
        <p:txBody>
          <a:bodyPr>
            <a:noAutofit/>
          </a:bodyPr>
          <a:lstStyle/>
          <a:p>
            <a:r>
              <a:rPr lang="pl-PL" sz="2000" dirty="0"/>
              <a:t>Sezon 2019 był dla niego trudny, ale jednocześnie symboliczny. Wykazał się ogromną wytrwałością, pracując z inżynierami nad rozwojem bolidu i wspierając młodszych zawodników. Dzięki niemu wiele kibiców w Polsce ponownie zainteresowało się F1, a jego historia stała się przykładem niezwykłej siły charakteru i pasji. Po zakończeniu regularnych startów w F1 Kubica kontynuował karierę w rajdach oraz seriach długodystansowych, a także pełnił funkcję kierowcy testowego i rezerwowego w zespołach F1 - Alfa Romeo i później Ferrari. Jego doświadczenie techniczne i analityczne podejście do pracy z bolidem czyniły go niezwykle cennym członkiem zespołu.</a:t>
            </a:r>
          </a:p>
        </p:txBody>
      </p:sp>
    </p:spTree>
    <p:extLst>
      <p:ext uri="{BB962C8B-B14F-4D97-AF65-F5344CB8AC3E}">
        <p14:creationId xmlns:p14="http://schemas.microsoft.com/office/powerpoint/2010/main" val="3474690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937D3F1-9BD6-F05A-7DEF-A322B6AC0ED5}"/>
              </a:ext>
            </a:extLst>
          </p:cNvPr>
          <p:cNvSpPr>
            <a:spLocks noGrp="1"/>
          </p:cNvSpPr>
          <p:nvPr>
            <p:ph type="ctrTitle"/>
          </p:nvPr>
        </p:nvSpPr>
        <p:spPr>
          <a:xfrm>
            <a:off x="1764766" y="1620254"/>
            <a:ext cx="8676222" cy="3200400"/>
          </a:xfrm>
        </p:spPr>
        <p:txBody>
          <a:bodyPr>
            <a:normAutofit/>
          </a:bodyPr>
          <a:lstStyle/>
          <a:p>
            <a:r>
              <a:rPr lang="pl-PL" sz="2000" dirty="0"/>
              <a:t>Poza torem Robert angażuje się w promocję </a:t>
            </a:r>
            <a:r>
              <a:rPr lang="pl-PL" sz="2000" dirty="0" err="1"/>
              <a:t>motorsportu</a:t>
            </a:r>
            <a:r>
              <a:rPr lang="pl-PL" sz="2000" dirty="0"/>
              <a:t> w</a:t>
            </a:r>
            <a:br>
              <a:rPr lang="pl-PL" sz="2000" dirty="0"/>
            </a:br>
            <a:r>
              <a:rPr lang="pl-PL" sz="2000" dirty="0"/>
              <a:t>Polsce, wspiera młodych kierowców i regularnie uczestniczy w</a:t>
            </a:r>
            <a:br>
              <a:rPr lang="pl-PL" sz="2000" dirty="0"/>
            </a:br>
            <a:r>
              <a:rPr lang="pl-PL" sz="2000" dirty="0"/>
              <a:t>projektach popularyzujących bezpieczeństwo w ruchu</a:t>
            </a:r>
            <a:br>
              <a:rPr lang="pl-PL" sz="2000" dirty="0"/>
            </a:br>
            <a:r>
              <a:rPr lang="pl-PL" sz="2000" dirty="0"/>
              <a:t>drogowym. Jest również komentatorem i ekspertem, dzielącym</a:t>
            </a:r>
            <a:br>
              <a:rPr lang="pl-PL" sz="2000" dirty="0"/>
            </a:br>
            <a:r>
              <a:rPr lang="pl-PL" sz="2000" dirty="0"/>
              <a:t>się wiedzą z kibicami. Jego historia inspiruje kolejne pokolenia</a:t>
            </a:r>
            <a:br>
              <a:rPr lang="pl-PL" sz="2000" dirty="0"/>
            </a:br>
            <a:r>
              <a:rPr lang="pl-PL" sz="2000" dirty="0"/>
              <a:t>do wiary w siebie i w to, że nawet po najtrudniejszych</a:t>
            </a:r>
            <a:br>
              <a:rPr lang="pl-PL" sz="2000" dirty="0"/>
            </a:br>
            <a:r>
              <a:rPr lang="pl-PL" sz="2000" dirty="0"/>
              <a:t>chwilach można wrócić silniejszym.</a:t>
            </a:r>
          </a:p>
        </p:txBody>
      </p:sp>
      <p:sp>
        <p:nvSpPr>
          <p:cNvPr id="3" name="Podtytuł 2">
            <a:extLst>
              <a:ext uri="{FF2B5EF4-FFF2-40B4-BE49-F238E27FC236}">
                <a16:creationId xmlns:a16="http://schemas.microsoft.com/office/drawing/2014/main" id="{1F52D586-E5FF-4E0D-B00A-CFA0489105FB}"/>
              </a:ext>
            </a:extLst>
          </p:cNvPr>
          <p:cNvSpPr>
            <a:spLocks noGrp="1"/>
          </p:cNvSpPr>
          <p:nvPr>
            <p:ph type="subTitle" idx="1"/>
          </p:nvPr>
        </p:nvSpPr>
        <p:spPr>
          <a:xfrm>
            <a:off x="1764766" y="609601"/>
            <a:ext cx="8676222" cy="749968"/>
          </a:xfrm>
        </p:spPr>
        <p:txBody>
          <a:bodyPr>
            <a:normAutofit/>
          </a:bodyPr>
          <a:lstStyle/>
          <a:p>
            <a:r>
              <a:rPr lang="pl-PL" sz="3600" dirty="0"/>
              <a:t>Dodatkowe aktywności</a:t>
            </a:r>
          </a:p>
        </p:txBody>
      </p:sp>
    </p:spTree>
    <p:extLst>
      <p:ext uri="{BB962C8B-B14F-4D97-AF65-F5344CB8AC3E}">
        <p14:creationId xmlns:p14="http://schemas.microsoft.com/office/powerpoint/2010/main" val="2774559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43A357B7-8E69-D1E0-8D4B-9480F4A59EF3}"/>
              </a:ext>
            </a:extLst>
          </p:cNvPr>
          <p:cNvSpPr>
            <a:spLocks noGrp="1"/>
          </p:cNvSpPr>
          <p:nvPr>
            <p:ph idx="1"/>
          </p:nvPr>
        </p:nvSpPr>
        <p:spPr>
          <a:xfrm>
            <a:off x="1143001" y="1866899"/>
            <a:ext cx="9905998" cy="3124201"/>
          </a:xfrm>
        </p:spPr>
        <p:txBody>
          <a:bodyPr>
            <a:noAutofit/>
          </a:bodyPr>
          <a:lstStyle/>
          <a:p>
            <a:pPr marL="0" indent="0">
              <a:buNone/>
            </a:pPr>
            <a:r>
              <a:rPr lang="pl-PL" sz="2800" dirty="0"/>
              <a:t>▶ Kierowca testowy i rezerwowy w zespołach F1</a:t>
            </a:r>
          </a:p>
          <a:p>
            <a:pPr marL="0" indent="0">
              <a:buNone/>
            </a:pPr>
            <a:r>
              <a:rPr lang="pl-PL" sz="2800" dirty="0"/>
              <a:t>▶ Udział w rajdach WRC i innych imprezach motoryzacyjnych</a:t>
            </a:r>
          </a:p>
          <a:p>
            <a:pPr marL="0" indent="0">
              <a:buNone/>
            </a:pPr>
            <a:r>
              <a:rPr lang="pl-PL" sz="2800" dirty="0"/>
              <a:t>▶ Promowanie sportów motorowych w Polsce i za granicą</a:t>
            </a:r>
          </a:p>
          <a:p>
            <a:pPr marL="0" indent="0">
              <a:buNone/>
            </a:pPr>
            <a:r>
              <a:rPr lang="pl-PL" sz="2800" dirty="0"/>
              <a:t>▶ Wsparcie młodych talentów w kartingu i wyścigach samochodowych</a:t>
            </a:r>
          </a:p>
          <a:p>
            <a:pPr marL="0" indent="0">
              <a:buNone/>
            </a:pPr>
            <a:r>
              <a:rPr lang="pl-PL" sz="2800" dirty="0"/>
              <a:t>▶ Współpraca z mediami i publikacje o tematyce </a:t>
            </a:r>
            <a:r>
              <a:rPr lang="pl-PL" sz="2800" dirty="0" err="1"/>
              <a:t>motorsportowej</a:t>
            </a:r>
            <a:endParaRPr lang="pl-PL" sz="2800" dirty="0"/>
          </a:p>
        </p:txBody>
      </p:sp>
    </p:spTree>
    <p:extLst>
      <p:ext uri="{BB962C8B-B14F-4D97-AF65-F5344CB8AC3E}">
        <p14:creationId xmlns:p14="http://schemas.microsoft.com/office/powerpoint/2010/main" val="3854471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D4C5148-0F59-F8B7-3B04-977B643C53C9}"/>
              </a:ext>
            </a:extLst>
          </p:cNvPr>
          <p:cNvSpPr>
            <a:spLocks noGrp="1"/>
          </p:cNvSpPr>
          <p:nvPr>
            <p:ph type="title"/>
          </p:nvPr>
        </p:nvSpPr>
        <p:spPr>
          <a:xfrm>
            <a:off x="1622677" y="114300"/>
            <a:ext cx="9905998" cy="1329489"/>
          </a:xfrm>
        </p:spPr>
        <p:txBody>
          <a:bodyPr/>
          <a:lstStyle/>
          <a:p>
            <a:r>
              <a:rPr lang="pl-PL" dirty="0"/>
              <a:t>Wpływ na polski </a:t>
            </a:r>
            <a:r>
              <a:rPr lang="pl-PL" dirty="0" err="1"/>
              <a:t>motorsport</a:t>
            </a:r>
            <a:endParaRPr lang="pl-PL" dirty="0"/>
          </a:p>
        </p:txBody>
      </p:sp>
      <p:sp>
        <p:nvSpPr>
          <p:cNvPr id="6" name="pole tekstowe 5">
            <a:extLst>
              <a:ext uri="{FF2B5EF4-FFF2-40B4-BE49-F238E27FC236}">
                <a16:creationId xmlns:a16="http://schemas.microsoft.com/office/drawing/2014/main" id="{BE47BF13-09A0-0924-1859-9DA5EDA1CBD0}"/>
              </a:ext>
            </a:extLst>
          </p:cNvPr>
          <p:cNvSpPr txBox="1"/>
          <p:nvPr/>
        </p:nvSpPr>
        <p:spPr>
          <a:xfrm>
            <a:off x="1281781" y="1582340"/>
            <a:ext cx="10587789" cy="3693319"/>
          </a:xfrm>
          <a:prstGeom prst="rect">
            <a:avLst/>
          </a:prstGeom>
          <a:noFill/>
        </p:spPr>
        <p:txBody>
          <a:bodyPr wrap="square" rtlCol="0">
            <a:spAutoFit/>
          </a:bodyPr>
          <a:lstStyle/>
          <a:p>
            <a:r>
              <a:rPr lang="pl-PL"/>
              <a:t>Robert Kubica pozostaje niekwestionowaną ikoną polskiego</a:t>
            </a:r>
          </a:p>
          <a:p>
            <a:r>
              <a:rPr lang="pl-PL"/>
              <a:t>sportu motorowego. Jego osiągnięcia zapisały się złotymi</a:t>
            </a:r>
          </a:p>
          <a:p>
            <a:r>
              <a:rPr lang="pl-PL"/>
              <a:t>zgłoskami w historii nie tylko Formuły 1, lecz także całego</a:t>
            </a:r>
          </a:p>
          <a:p>
            <a:r>
              <a:rPr lang="pl-PL"/>
              <a:t>polskiego motorsportu. Dzięki jego sukcesom miliony Polaków</a:t>
            </a:r>
          </a:p>
          <a:p>
            <a:r>
              <a:rPr lang="pl-PL"/>
              <a:t>zaczęły interesować się wyścigami, a transmisje F1 po raz</a:t>
            </a:r>
          </a:p>
          <a:p>
            <a:r>
              <a:rPr lang="pl-PL"/>
              <a:t>pierwszy przyciągnęły szeroką publiczność w kraju.</a:t>
            </a:r>
          </a:p>
          <a:p>
            <a:r>
              <a:rPr lang="pl-PL"/>
              <a:t>Kubica swoim przykładem udowodnił, że nawet pochodząc z</a:t>
            </a:r>
          </a:p>
          <a:p>
            <a:r>
              <a:rPr lang="pl-PL"/>
              <a:t>kraju bez bogatych tradycji w wyścigach, można przebić się na</a:t>
            </a:r>
          </a:p>
          <a:p>
            <a:r>
              <a:rPr lang="pl-PL"/>
              <a:t>sam szczyt światowej rywalizacji. Stał się wzorem determinacji,</a:t>
            </a:r>
          </a:p>
          <a:p>
            <a:r>
              <a:rPr lang="pl-PL"/>
              <a:t>dyscypliny i profesjonalizmu. Jego podejście do pracy -</a:t>
            </a:r>
          </a:p>
          <a:p>
            <a:r>
              <a:rPr lang="pl-PL"/>
              <a:t>chłodne, analityczne i jednocześnie pełne pasji - zainspirowało</a:t>
            </a:r>
          </a:p>
          <a:p>
            <a:r>
              <a:rPr lang="pl-PL"/>
              <a:t>nie tylko młodych kierowców, ale też całą społeczność</a:t>
            </a:r>
          </a:p>
          <a:p>
            <a:r>
              <a:rPr lang="pl-PL"/>
              <a:t>sportową.</a:t>
            </a:r>
            <a:endParaRPr lang="pl-PL" dirty="0"/>
          </a:p>
        </p:txBody>
      </p:sp>
    </p:spTree>
    <p:extLst>
      <p:ext uri="{BB962C8B-B14F-4D97-AF65-F5344CB8AC3E}">
        <p14:creationId xmlns:p14="http://schemas.microsoft.com/office/powerpoint/2010/main" val="1280351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67EAF46-9E82-1EAA-48BB-9AB09A48F0CD}"/>
              </a:ext>
            </a:extLst>
          </p:cNvPr>
          <p:cNvSpPr>
            <a:spLocks noGrp="1"/>
          </p:cNvSpPr>
          <p:nvPr>
            <p:ph type="ctrTitle"/>
          </p:nvPr>
        </p:nvSpPr>
        <p:spPr>
          <a:xfrm>
            <a:off x="1638717" y="2037348"/>
            <a:ext cx="8676222" cy="3200400"/>
          </a:xfrm>
        </p:spPr>
        <p:txBody>
          <a:bodyPr>
            <a:noAutofit/>
          </a:bodyPr>
          <a:lstStyle/>
          <a:p>
            <a:r>
              <a:rPr lang="pl-PL" sz="2000" dirty="0"/>
              <a:t>Jego sukcesy w Formule 1, rajdach i wyścigach</a:t>
            </a:r>
            <a:br>
              <a:rPr lang="pl-PL" sz="2000" dirty="0"/>
            </a:br>
            <a:r>
              <a:rPr lang="pl-PL" sz="2000" dirty="0"/>
              <a:t>długodystansowych sprawiły, że w Polsce zaczęły powstawać nowe szkoły kartingowe, akademie kierowców i inicjatywy wspierające młodych zawodników. Wielu współczesnych polskich kierowców, takich jak Kacper Sztuka czy </a:t>
            </a:r>
            <a:r>
              <a:rPr lang="pl-PL" sz="2000" dirty="0" err="1"/>
              <a:t>Tymek</a:t>
            </a:r>
            <a:r>
              <a:rPr lang="pl-PL" sz="2000" dirty="0"/>
              <a:t> Kucharczyk, otwarcie przyznaje, że to właśnie Kubica był dla nich inspiracją do rozpoczęcia kariery. Poza torem Kubica odgrywa także ważną rolę jako ambasador sportów motorowych. Często uczestniczy w wydarzeniach promujących bezpieczeństwo na drogach i rozwój </a:t>
            </a:r>
            <a:r>
              <a:rPr lang="pl-PL" sz="2000" dirty="0" err="1"/>
              <a:t>motorsportu</a:t>
            </a:r>
            <a:r>
              <a:rPr lang="pl-PL" sz="2000" dirty="0"/>
              <a:t> w Polsce. Jego nazwisko jest synonimem profesjonalizmu, a jego postawa - dowodem na to, że wytrwałość może pokonać wszelkie przeciwności losu.</a:t>
            </a:r>
          </a:p>
        </p:txBody>
      </p:sp>
    </p:spTree>
    <p:extLst>
      <p:ext uri="{BB962C8B-B14F-4D97-AF65-F5344CB8AC3E}">
        <p14:creationId xmlns:p14="http://schemas.microsoft.com/office/powerpoint/2010/main" val="1749745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4B1AFF7-592B-B6B4-ACB3-15B63E3B9F4C}"/>
              </a:ext>
            </a:extLst>
          </p:cNvPr>
          <p:cNvSpPr>
            <a:spLocks noGrp="1"/>
          </p:cNvSpPr>
          <p:nvPr>
            <p:ph type="ctrTitle"/>
          </p:nvPr>
        </p:nvSpPr>
        <p:spPr>
          <a:xfrm>
            <a:off x="1558507" y="1315454"/>
            <a:ext cx="8676222" cy="3200400"/>
          </a:xfrm>
        </p:spPr>
        <p:txBody>
          <a:bodyPr>
            <a:normAutofit/>
          </a:bodyPr>
          <a:lstStyle/>
          <a:p>
            <a:r>
              <a:rPr lang="pl-PL" sz="2000" dirty="0"/>
              <a:t>▶ Inspiracja dla młodych kierowców i wzrost liczby szkół</a:t>
            </a:r>
            <a:br>
              <a:rPr lang="pl-PL" sz="2000" dirty="0"/>
            </a:br>
            <a:r>
              <a:rPr lang="pl-PL" sz="2000" dirty="0"/>
              <a:t>kartingowych</a:t>
            </a:r>
            <a:br>
              <a:rPr lang="pl-PL" sz="2000" dirty="0"/>
            </a:br>
            <a:r>
              <a:rPr lang="pl-PL" sz="2000" dirty="0"/>
              <a:t>▶ Promowanie wyścigów samochodowych w mediach</a:t>
            </a:r>
            <a:br>
              <a:rPr lang="pl-PL" sz="2000" dirty="0"/>
            </a:br>
            <a:r>
              <a:rPr lang="pl-PL" sz="2000" dirty="0"/>
              <a:t>krajowych</a:t>
            </a:r>
            <a:br>
              <a:rPr lang="pl-PL" sz="2000" dirty="0"/>
            </a:br>
            <a:r>
              <a:rPr lang="pl-PL" sz="2000" dirty="0"/>
              <a:t>▶ Wsparcie dla polskich zawodników startujących w</a:t>
            </a:r>
            <a:br>
              <a:rPr lang="pl-PL" sz="2000" dirty="0"/>
            </a:br>
            <a:r>
              <a:rPr lang="pl-PL" sz="2000" dirty="0"/>
              <a:t>wyścigach międzynarodowych</a:t>
            </a:r>
            <a:br>
              <a:rPr lang="pl-PL" sz="2000" dirty="0"/>
            </a:br>
            <a:r>
              <a:rPr lang="pl-PL" sz="2000" dirty="0"/>
              <a:t>▶ Podniesienie prestiżu Polski na mapie sportów</a:t>
            </a:r>
            <a:br>
              <a:rPr lang="pl-PL" sz="2000" dirty="0"/>
            </a:br>
            <a:r>
              <a:rPr lang="pl-PL" sz="2000" dirty="0"/>
              <a:t>motorowych</a:t>
            </a:r>
            <a:br>
              <a:rPr lang="pl-PL" sz="2000" dirty="0"/>
            </a:br>
            <a:r>
              <a:rPr lang="pl-PL" sz="2000" dirty="0"/>
              <a:t>▶ Rozwój infrastruktury i programów szkoleniowych dla</a:t>
            </a:r>
            <a:br>
              <a:rPr lang="pl-PL" sz="2000" dirty="0"/>
            </a:br>
            <a:r>
              <a:rPr lang="pl-PL" sz="2000" dirty="0"/>
              <a:t>młodych kierowców</a:t>
            </a:r>
          </a:p>
        </p:txBody>
      </p:sp>
    </p:spTree>
    <p:extLst>
      <p:ext uri="{BB962C8B-B14F-4D97-AF65-F5344CB8AC3E}">
        <p14:creationId xmlns:p14="http://schemas.microsoft.com/office/powerpoint/2010/main" val="2028308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2B472F5-D7C0-D6A9-C6DE-51FBAB009979}"/>
              </a:ext>
            </a:extLst>
          </p:cNvPr>
          <p:cNvSpPr>
            <a:spLocks noGrp="1"/>
          </p:cNvSpPr>
          <p:nvPr>
            <p:ph type="ctrTitle"/>
          </p:nvPr>
        </p:nvSpPr>
        <p:spPr>
          <a:xfrm>
            <a:off x="1764766" y="2245896"/>
            <a:ext cx="8676222" cy="3200400"/>
          </a:xfrm>
        </p:spPr>
        <p:txBody>
          <a:bodyPr>
            <a:noAutofit/>
          </a:bodyPr>
          <a:lstStyle/>
          <a:p>
            <a:r>
              <a:rPr lang="pl-PL" sz="2000" dirty="0"/>
              <a:t>Po powrocie do wyścigów długodystansowych Robert Kubica szybko udowodnił, że jego talent i determinacja nie zanikły mimo trudnych lat po wypadku. W serii </a:t>
            </a:r>
            <a:r>
              <a:rPr lang="pl-PL" sz="2000" dirty="0" err="1"/>
              <a:t>endurance</a:t>
            </a:r>
            <a:r>
              <a:rPr lang="pl-PL" sz="2000" dirty="0"/>
              <a:t> odnalazł nowe wyzwanie - nie polegające wyłącznie na czystej prędkości, lecz także na strategii,. Dzięki swojemu doświadczeniu z Formuły 1, Kubica znakomicie odnajduje się w realiach wyścigów WEC (World </a:t>
            </a:r>
            <a:r>
              <a:rPr lang="pl-PL" sz="2000" dirty="0" err="1"/>
              <a:t>Endurance</a:t>
            </a:r>
            <a:r>
              <a:rPr lang="pl-PL" sz="2000" dirty="0"/>
              <a:t> Championship) i ELMS (</a:t>
            </a:r>
            <a:r>
              <a:rPr lang="pl-PL" sz="2000" dirty="0" err="1"/>
              <a:t>European</a:t>
            </a:r>
            <a:r>
              <a:rPr lang="pl-PL" sz="2000" dirty="0"/>
              <a:t> Le </a:t>
            </a:r>
            <a:r>
              <a:rPr lang="pl-PL" sz="2000" dirty="0" err="1"/>
              <a:t>Mans</a:t>
            </a:r>
            <a:r>
              <a:rPr lang="pl-PL" sz="2000" dirty="0"/>
              <a:t> Series). Jego techniczna wiedza pomagała zespołom w precyzyjnym dostrajaniu samochodów,</a:t>
            </a:r>
          </a:p>
        </p:txBody>
      </p:sp>
      <p:sp>
        <p:nvSpPr>
          <p:cNvPr id="3" name="Podtytuł 2">
            <a:extLst>
              <a:ext uri="{FF2B5EF4-FFF2-40B4-BE49-F238E27FC236}">
                <a16:creationId xmlns:a16="http://schemas.microsoft.com/office/drawing/2014/main" id="{DE27BC8F-B6B1-F699-2906-3BD64BA7A087}"/>
              </a:ext>
            </a:extLst>
          </p:cNvPr>
          <p:cNvSpPr>
            <a:spLocks noGrp="1"/>
          </p:cNvSpPr>
          <p:nvPr>
            <p:ph type="subTitle" idx="1"/>
          </p:nvPr>
        </p:nvSpPr>
        <p:spPr>
          <a:xfrm>
            <a:off x="1764766" y="505328"/>
            <a:ext cx="8676222" cy="766011"/>
          </a:xfrm>
        </p:spPr>
        <p:txBody>
          <a:bodyPr>
            <a:normAutofit/>
          </a:bodyPr>
          <a:lstStyle/>
          <a:p>
            <a:r>
              <a:rPr lang="pl-PL" sz="3600" dirty="0"/>
              <a:t>Najważniejsze zwycięstwa i osiągnięcia</a:t>
            </a:r>
          </a:p>
        </p:txBody>
      </p:sp>
    </p:spTree>
    <p:extLst>
      <p:ext uri="{BB962C8B-B14F-4D97-AF65-F5344CB8AC3E}">
        <p14:creationId xmlns:p14="http://schemas.microsoft.com/office/powerpoint/2010/main" val="3029465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2C44B60-0340-AA0B-B14F-027DEA5526E2}"/>
              </a:ext>
            </a:extLst>
          </p:cNvPr>
          <p:cNvSpPr>
            <a:spLocks noGrp="1"/>
          </p:cNvSpPr>
          <p:nvPr>
            <p:ph type="ctrTitle"/>
          </p:nvPr>
        </p:nvSpPr>
        <p:spPr>
          <a:xfrm>
            <a:off x="1757889" y="0"/>
            <a:ext cx="8676222" cy="3200400"/>
          </a:xfrm>
        </p:spPr>
        <p:txBody>
          <a:bodyPr>
            <a:normAutofit/>
          </a:bodyPr>
          <a:lstStyle/>
          <a:p>
            <a:r>
              <a:rPr lang="pl-PL" sz="2000" dirty="0"/>
              <a:t>W 2021 roku odniósł jedno ze swoich największych osiągnięć</a:t>
            </a:r>
            <a:br>
              <a:rPr lang="pl-PL" sz="2000" dirty="0"/>
            </a:br>
            <a:r>
              <a:rPr lang="pl-PL" sz="2000" dirty="0"/>
              <a:t>w wyścigach </a:t>
            </a:r>
            <a:r>
              <a:rPr lang="pl-PL" sz="2000" dirty="0" err="1"/>
              <a:t>endurance</a:t>
            </a:r>
            <a:r>
              <a:rPr lang="pl-PL" sz="2000" dirty="0"/>
              <a:t>, zdobywając tytuł mistrzowski w serii</a:t>
            </a:r>
            <a:br>
              <a:rPr lang="pl-PL" sz="2000" dirty="0"/>
            </a:br>
            <a:r>
              <a:rPr lang="pl-PL" sz="2000" dirty="0"/>
              <a:t>ELMS w klasie LMP2 z zespołem Team WRT. Jego występ w</a:t>
            </a:r>
            <a:br>
              <a:rPr lang="pl-PL" sz="2000" dirty="0"/>
            </a:br>
            <a:r>
              <a:rPr lang="pl-PL" sz="2000" dirty="0"/>
              <a:t>Le </a:t>
            </a:r>
            <a:r>
              <a:rPr lang="pl-PL" sz="2000" dirty="0" err="1"/>
              <a:t>Mans</a:t>
            </a:r>
            <a:r>
              <a:rPr lang="pl-PL" sz="2000" dirty="0"/>
              <a:t> tego samego roku, mimo dramatycznego finału z</a:t>
            </a:r>
            <a:br>
              <a:rPr lang="pl-PL" sz="2000" dirty="0"/>
            </a:br>
            <a:r>
              <a:rPr lang="pl-PL" sz="2000" dirty="0"/>
              <a:t>awarią na ostatnim okrążeniu, pokazał ogromne serce do walki</a:t>
            </a:r>
            <a:br>
              <a:rPr lang="pl-PL" sz="2000" dirty="0"/>
            </a:br>
            <a:r>
              <a:rPr lang="pl-PL" sz="2000" dirty="0"/>
              <a:t>i odporność psychiczną.</a:t>
            </a:r>
          </a:p>
        </p:txBody>
      </p:sp>
      <p:sp>
        <p:nvSpPr>
          <p:cNvPr id="3" name="Podtytuł 2">
            <a:extLst>
              <a:ext uri="{FF2B5EF4-FFF2-40B4-BE49-F238E27FC236}">
                <a16:creationId xmlns:a16="http://schemas.microsoft.com/office/drawing/2014/main" id="{A8113731-E775-D0E3-CCF4-06DF50F41425}"/>
              </a:ext>
            </a:extLst>
          </p:cNvPr>
          <p:cNvSpPr>
            <a:spLocks noGrp="1"/>
          </p:cNvSpPr>
          <p:nvPr>
            <p:ph type="subTitle" idx="1"/>
          </p:nvPr>
        </p:nvSpPr>
        <p:spPr/>
        <p:txBody>
          <a:bodyPr>
            <a:normAutofit fontScale="77500" lnSpcReduction="20000"/>
          </a:bodyPr>
          <a:lstStyle/>
          <a:p>
            <a:r>
              <a:rPr lang="pl-PL" dirty="0"/>
              <a:t>1. 24h Le </a:t>
            </a:r>
            <a:r>
              <a:rPr lang="pl-PL" dirty="0" err="1"/>
              <a:t>Mans</a:t>
            </a:r>
            <a:r>
              <a:rPr lang="pl-PL" dirty="0"/>
              <a:t> - wygrana w 2025 roku</a:t>
            </a:r>
          </a:p>
          <a:p>
            <a:r>
              <a:rPr lang="pl-PL" dirty="0"/>
              <a:t>2. Zwycięstwa w wyścigach FIA WEC - w klasie LMP2</a:t>
            </a:r>
          </a:p>
          <a:p>
            <a:r>
              <a:rPr lang="pl-PL" dirty="0"/>
              <a:t>3. Triumfy w wyścigach długodystansowych na torach</a:t>
            </a:r>
          </a:p>
          <a:p>
            <a:r>
              <a:rPr lang="pl-PL" dirty="0" err="1"/>
              <a:t>Silverstone</a:t>
            </a:r>
            <a:r>
              <a:rPr lang="pl-PL" dirty="0"/>
              <a:t> i Spa-</a:t>
            </a:r>
            <a:r>
              <a:rPr lang="pl-PL" dirty="0" err="1"/>
              <a:t>Francorchamps</a:t>
            </a:r>
            <a:endParaRPr lang="pl-PL" dirty="0"/>
          </a:p>
          <a:p>
            <a:r>
              <a:rPr lang="pl-PL" dirty="0"/>
              <a:t>4. Wygrana w </a:t>
            </a:r>
            <a:r>
              <a:rPr lang="pl-PL" dirty="0" err="1"/>
              <a:t>European</a:t>
            </a:r>
            <a:r>
              <a:rPr lang="pl-PL" dirty="0"/>
              <a:t> Le </a:t>
            </a:r>
            <a:r>
              <a:rPr lang="pl-PL" dirty="0" err="1"/>
              <a:t>Mans</a:t>
            </a:r>
            <a:r>
              <a:rPr lang="pl-PL" dirty="0"/>
              <a:t> Series w 2021 z zespołem</a:t>
            </a:r>
          </a:p>
          <a:p>
            <a:r>
              <a:rPr lang="pl-PL" dirty="0"/>
              <a:t>WRT</a:t>
            </a:r>
          </a:p>
        </p:txBody>
      </p:sp>
    </p:spTree>
    <p:extLst>
      <p:ext uri="{BB962C8B-B14F-4D97-AF65-F5344CB8AC3E}">
        <p14:creationId xmlns:p14="http://schemas.microsoft.com/office/powerpoint/2010/main" val="1441057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B9A2388-4480-A2B8-5C96-5605C0A5DDB1}"/>
              </a:ext>
            </a:extLst>
          </p:cNvPr>
          <p:cNvSpPr>
            <a:spLocks noGrp="1"/>
          </p:cNvSpPr>
          <p:nvPr>
            <p:ph type="title"/>
          </p:nvPr>
        </p:nvSpPr>
        <p:spPr>
          <a:xfrm>
            <a:off x="1143000" y="1588169"/>
            <a:ext cx="9905999" cy="2743199"/>
          </a:xfrm>
        </p:spPr>
        <p:txBody>
          <a:bodyPr>
            <a:noAutofit/>
          </a:bodyPr>
          <a:lstStyle/>
          <a:p>
            <a:r>
              <a:rPr lang="pl-PL" sz="2000" dirty="0"/>
              <a:t>Kubica udowodnił, że jego umiejętności nie ograniczają się</a:t>
            </a:r>
            <a:br>
              <a:rPr lang="pl-PL" sz="2000" dirty="0"/>
            </a:br>
            <a:r>
              <a:rPr lang="pl-PL" sz="2000" dirty="0"/>
              <a:t>tylko do Formuły 1. Jego wszechstronność, precyzja i</a:t>
            </a:r>
            <a:br>
              <a:rPr lang="pl-PL" sz="2000" dirty="0"/>
            </a:br>
            <a:r>
              <a:rPr lang="pl-PL" sz="2000" dirty="0"/>
              <a:t>nieustępliwość czynią go jednym z najbardziej szanowanych</a:t>
            </a:r>
            <a:br>
              <a:rPr lang="pl-PL" sz="2000" dirty="0"/>
            </a:br>
            <a:r>
              <a:rPr lang="pl-PL" sz="2000" dirty="0"/>
              <a:t>kierowców w świecie wyścigów długodystansowych. Jego</a:t>
            </a:r>
            <a:br>
              <a:rPr lang="pl-PL" sz="2000" dirty="0"/>
            </a:br>
            <a:r>
              <a:rPr lang="pl-PL" sz="2000" dirty="0"/>
              <a:t>kariera to dowód, że prawdziwa pasja i profesjonalizm potrafią</a:t>
            </a:r>
            <a:br>
              <a:rPr lang="pl-PL" sz="2000" dirty="0"/>
            </a:br>
            <a:r>
              <a:rPr lang="pl-PL" sz="2000" dirty="0"/>
              <a:t>przekraczać granice dyscyplin. ”To były długie 24godziny, ale bardzo radosne. bardzo wam wszystkim dziękuje - powiedział </a:t>
            </a:r>
            <a:r>
              <a:rPr lang="pl-PL" sz="2000" dirty="0" err="1"/>
              <a:t>szcześliwy</a:t>
            </a:r>
            <a:r>
              <a:rPr lang="pl-PL" sz="2000" dirty="0"/>
              <a:t> Kubica przez radio do osób ze swojej ekipy.”</a:t>
            </a:r>
          </a:p>
        </p:txBody>
      </p:sp>
    </p:spTree>
    <p:extLst>
      <p:ext uri="{BB962C8B-B14F-4D97-AF65-F5344CB8AC3E}">
        <p14:creationId xmlns:p14="http://schemas.microsoft.com/office/powerpoint/2010/main" val="3650048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4295DFF-1DBD-F9FB-717F-FFFC476BFB2B}"/>
              </a:ext>
            </a:extLst>
          </p:cNvPr>
          <p:cNvSpPr>
            <a:spLocks noGrp="1"/>
          </p:cNvSpPr>
          <p:nvPr>
            <p:ph type="ctrTitle"/>
          </p:nvPr>
        </p:nvSpPr>
        <p:spPr>
          <a:xfrm>
            <a:off x="1751012" y="1475874"/>
            <a:ext cx="8676222" cy="3200400"/>
          </a:xfrm>
        </p:spPr>
        <p:txBody>
          <a:bodyPr>
            <a:noAutofit/>
          </a:bodyPr>
          <a:lstStyle/>
          <a:p>
            <a:br>
              <a:rPr lang="pl-PL" sz="2000" dirty="0"/>
            </a:br>
            <a:r>
              <a:rPr lang="pl-PL" sz="2000" dirty="0"/>
              <a:t>Robert Kubica to jedna z najważniejszych postaci w historii</a:t>
            </a:r>
            <a:br>
              <a:rPr lang="pl-PL" sz="2000" dirty="0"/>
            </a:br>
            <a:r>
              <a:rPr lang="pl-PL" sz="2000" dirty="0"/>
              <a:t>polskiego </a:t>
            </a:r>
            <a:r>
              <a:rPr lang="pl-PL" sz="2000" dirty="0" err="1"/>
              <a:t>motorsportu</a:t>
            </a:r>
            <a:r>
              <a:rPr lang="pl-PL" sz="2000" dirty="0"/>
              <a:t>. Jako pierwszy Polak w Formule 1</a:t>
            </a:r>
            <a:br>
              <a:rPr lang="pl-PL" sz="2000" dirty="0"/>
            </a:br>
            <a:r>
              <a:rPr lang="pl-PL" sz="2000" dirty="0"/>
              <a:t>osiągnął zwycięstwo w Grand Prix, a po ciężkim wypadku</a:t>
            </a:r>
            <a:br>
              <a:rPr lang="pl-PL" sz="2000" dirty="0"/>
            </a:br>
            <a:r>
              <a:rPr lang="pl-PL" sz="2000" dirty="0"/>
              <a:t>udowodnił niezwykłą determinację, wracając do rywalizacji na najwyższym poziomie. Jego sukcesy w F1 i wyścigach długodystansowych oraz wpływ na rozwój </a:t>
            </a:r>
            <a:r>
              <a:rPr lang="pl-PL" sz="2000" dirty="0" err="1"/>
              <a:t>motorsportu</a:t>
            </a:r>
            <a:r>
              <a:rPr lang="pl-PL" sz="2000" dirty="0"/>
              <a:t> w Polsce czynią go symbolem pasji, wytrwałości i profesjonalizmu.</a:t>
            </a:r>
          </a:p>
        </p:txBody>
      </p:sp>
      <p:sp>
        <p:nvSpPr>
          <p:cNvPr id="3" name="Podtytuł 2">
            <a:extLst>
              <a:ext uri="{FF2B5EF4-FFF2-40B4-BE49-F238E27FC236}">
                <a16:creationId xmlns:a16="http://schemas.microsoft.com/office/drawing/2014/main" id="{D6102FC0-83C1-20FB-F703-B833A64DC348}"/>
              </a:ext>
            </a:extLst>
          </p:cNvPr>
          <p:cNvSpPr>
            <a:spLocks noGrp="1"/>
          </p:cNvSpPr>
          <p:nvPr>
            <p:ph type="subTitle" idx="1"/>
          </p:nvPr>
        </p:nvSpPr>
        <p:spPr>
          <a:xfrm>
            <a:off x="1751012" y="304801"/>
            <a:ext cx="8676222" cy="978567"/>
          </a:xfrm>
        </p:spPr>
        <p:txBody>
          <a:bodyPr>
            <a:normAutofit/>
          </a:bodyPr>
          <a:lstStyle/>
          <a:p>
            <a:r>
              <a:rPr lang="pl-PL" sz="3600" dirty="0"/>
              <a:t>Podsumowanie</a:t>
            </a:r>
          </a:p>
        </p:txBody>
      </p:sp>
    </p:spTree>
    <p:extLst>
      <p:ext uri="{BB962C8B-B14F-4D97-AF65-F5344CB8AC3E}">
        <p14:creationId xmlns:p14="http://schemas.microsoft.com/office/powerpoint/2010/main" val="1603221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C71667D-C1A2-8751-1DC1-0C111EEFCD95}"/>
              </a:ext>
            </a:extLst>
          </p:cNvPr>
          <p:cNvSpPr>
            <a:spLocks noGrp="1"/>
          </p:cNvSpPr>
          <p:nvPr>
            <p:ph type="ctrTitle"/>
          </p:nvPr>
        </p:nvSpPr>
        <p:spPr>
          <a:xfrm>
            <a:off x="-1190041" y="2998537"/>
            <a:ext cx="8676222" cy="3200400"/>
          </a:xfrm>
        </p:spPr>
        <p:txBody>
          <a:bodyPr>
            <a:noAutofit/>
          </a:bodyPr>
          <a:lstStyle/>
          <a:p>
            <a:pPr algn="r"/>
            <a:br>
              <a:rPr lang="pl-PL" sz="2000" dirty="0"/>
            </a:br>
            <a:r>
              <a:rPr lang="pl-PL" sz="2000" dirty="0"/>
              <a:t>Robert Kubica </a:t>
            </a:r>
            <a:r>
              <a:rPr lang="pl-PL" sz="2000" dirty="0" err="1"/>
              <a:t>podiums</a:t>
            </a:r>
            <a:r>
              <a:rPr lang="pl-PL" sz="2000" dirty="0"/>
              <a:t> STATS. 2010. url:</a:t>
            </a:r>
            <a:br>
              <a:rPr lang="pl-PL" sz="2000" dirty="0"/>
            </a:br>
            <a:r>
              <a:rPr lang="pl-PL" sz="2000" dirty="0"/>
              <a:t>https://www.statsf1.com/en/robert-</a:t>
            </a:r>
            <a:br>
              <a:rPr lang="pl-PL" sz="2000" dirty="0"/>
            </a:br>
            <a:r>
              <a:rPr lang="pl-PL" sz="2000" dirty="0" err="1"/>
              <a:t>kubica</a:t>
            </a:r>
            <a:r>
              <a:rPr lang="pl-PL" sz="2000" dirty="0"/>
              <a:t>/podium.aspx (</a:t>
            </a:r>
            <a:r>
              <a:rPr lang="pl-PL" sz="2000" dirty="0" err="1"/>
              <a:t>visited</a:t>
            </a:r>
            <a:r>
              <a:rPr lang="pl-PL" sz="2000" dirty="0"/>
              <a:t> on 11/25/2025).</a:t>
            </a:r>
            <a:br>
              <a:rPr lang="pl-PL" sz="2000" dirty="0"/>
            </a:br>
            <a:r>
              <a:rPr lang="pl-PL" sz="2000" dirty="0"/>
              <a:t>Mateusz Cieślicki. powrotroberta.pl. 2025. url:</a:t>
            </a:r>
            <a:br>
              <a:rPr lang="pl-PL" sz="2000" dirty="0"/>
            </a:br>
            <a:r>
              <a:rPr lang="pl-PL" sz="2000" dirty="0"/>
              <a:t>powrotroberta.pl (</a:t>
            </a:r>
            <a:r>
              <a:rPr lang="pl-PL" sz="2000" dirty="0" err="1"/>
              <a:t>visited</a:t>
            </a:r>
            <a:r>
              <a:rPr lang="pl-PL" sz="2000" dirty="0"/>
              <a:t> on 11/25/2025).</a:t>
            </a:r>
            <a:br>
              <a:rPr lang="pl-PL" sz="2000" dirty="0"/>
            </a:br>
            <a:r>
              <a:rPr lang="pl-PL" sz="2000" dirty="0"/>
              <a:t>Eurosport. Robert Kubica zabrał głos po zwycięstwie</a:t>
            </a:r>
            <a:br>
              <a:rPr lang="pl-PL" sz="2000" dirty="0"/>
            </a:br>
            <a:r>
              <a:rPr lang="pl-PL" sz="2000" dirty="0"/>
              <a:t>w wyścigu 24h </a:t>
            </a:r>
            <a:r>
              <a:rPr lang="pl-PL" sz="2000" dirty="0" err="1"/>
              <a:t>LeMans</a:t>
            </a:r>
            <a:r>
              <a:rPr lang="pl-PL" sz="2000" dirty="0"/>
              <a:t>. 2025. url:</a:t>
            </a:r>
            <a:br>
              <a:rPr lang="pl-PL" sz="2000" dirty="0"/>
            </a:br>
            <a:r>
              <a:rPr lang="pl-PL" sz="2000" dirty="0"/>
              <a:t>https://eurosport.tvn24.pl/wec/24-heures-</a:t>
            </a:r>
            <a:br>
              <a:rPr lang="pl-PL" sz="2000" dirty="0"/>
            </a:br>
            <a:r>
              <a:rPr lang="pl-PL" sz="2000" dirty="0" err="1"/>
              <a:t>du-mans</a:t>
            </a:r>
            <a:r>
              <a:rPr lang="pl-PL" sz="2000" dirty="0"/>
              <a:t>/2025/</a:t>
            </a:r>
            <a:r>
              <a:rPr lang="pl-PL" sz="2000" dirty="0" err="1"/>
              <a:t>robert</a:t>
            </a:r>
            <a:r>
              <a:rPr lang="pl-PL" sz="2000" dirty="0"/>
              <a:t>-</a:t>
            </a:r>
            <a:r>
              <a:rPr lang="pl-PL" sz="2000" dirty="0" err="1"/>
              <a:t>kubica</a:t>
            </a:r>
            <a:r>
              <a:rPr lang="pl-PL" sz="2000" dirty="0"/>
              <a:t>-</a:t>
            </a:r>
            <a:r>
              <a:rPr lang="pl-PL" sz="2000" dirty="0" err="1"/>
              <a:t>zabral</a:t>
            </a:r>
            <a:r>
              <a:rPr lang="pl-PL" sz="2000" dirty="0"/>
              <a:t>-glos-</a:t>
            </a:r>
            <a:br>
              <a:rPr lang="pl-PL" sz="2000" dirty="0"/>
            </a:br>
            <a:r>
              <a:rPr lang="pl-PL" sz="2000" dirty="0"/>
              <a:t>po-zwyciestwie-w-wyscigu-24h-le-mans.-co-</a:t>
            </a:r>
            <a:br>
              <a:rPr lang="pl-PL" sz="2000" dirty="0"/>
            </a:br>
            <a:r>
              <a:rPr lang="pl-PL" sz="2000" dirty="0" err="1"/>
              <a:t>powiedzial</a:t>
            </a:r>
            <a:r>
              <a:rPr lang="pl-PL" sz="2000" dirty="0"/>
              <a:t>-polski-</a:t>
            </a:r>
            <a:br>
              <a:rPr lang="pl-PL" sz="2000" dirty="0"/>
            </a:br>
            <a:r>
              <a:rPr lang="pl-PL" sz="2000" dirty="0"/>
              <a:t>kierowca_sto23192677/story.shtml (</a:t>
            </a:r>
            <a:r>
              <a:rPr lang="pl-PL" sz="2000" dirty="0" err="1"/>
              <a:t>visited</a:t>
            </a:r>
            <a:r>
              <a:rPr lang="pl-PL" sz="2000" dirty="0"/>
              <a:t> on</a:t>
            </a:r>
            <a:br>
              <a:rPr lang="pl-PL" sz="2000" dirty="0"/>
            </a:br>
            <a:r>
              <a:rPr lang="pl-PL" sz="2000" dirty="0"/>
              <a:t>11/25/2025).</a:t>
            </a:r>
            <a:br>
              <a:rPr lang="pl-PL" sz="2000" dirty="0"/>
            </a:br>
            <a:r>
              <a:rPr lang="pl-PL" sz="2000" dirty="0"/>
              <a:t>Robert Kubica, </a:t>
            </a:r>
            <a:r>
              <a:rPr lang="pl-PL" sz="2000" dirty="0" err="1"/>
              <a:t>wikipedia</a:t>
            </a:r>
            <a:r>
              <a:rPr lang="pl-PL" sz="2000" dirty="0"/>
              <a:t> wolna encyklopedia. 2025. </a:t>
            </a:r>
            <a:br>
              <a:rPr lang="pl-PL" sz="2000" dirty="0"/>
            </a:br>
            <a:r>
              <a:rPr lang="pl-PL" sz="2000" dirty="0"/>
              <a:t>url: pl.wikipedia.org/</a:t>
            </a:r>
            <a:r>
              <a:rPr lang="pl-PL" sz="2000" dirty="0" err="1"/>
              <a:t>wiki</a:t>
            </a:r>
            <a:r>
              <a:rPr lang="pl-PL" sz="2000" dirty="0"/>
              <a:t>/</a:t>
            </a:r>
            <a:r>
              <a:rPr lang="pl-PL" sz="2000" dirty="0" err="1"/>
              <a:t>Robert_Kubica</a:t>
            </a:r>
            <a:r>
              <a:rPr lang="pl-PL" sz="2000" dirty="0"/>
              <a:t> (</a:t>
            </a:r>
            <a:r>
              <a:rPr lang="pl-PL" sz="2000" dirty="0" err="1"/>
              <a:t>visited</a:t>
            </a:r>
            <a:r>
              <a:rPr lang="pl-PL" sz="2000" dirty="0"/>
              <a:t> on 11/25/2025).</a:t>
            </a:r>
          </a:p>
        </p:txBody>
      </p:sp>
      <p:sp>
        <p:nvSpPr>
          <p:cNvPr id="3" name="Podtytuł 2">
            <a:extLst>
              <a:ext uri="{FF2B5EF4-FFF2-40B4-BE49-F238E27FC236}">
                <a16:creationId xmlns:a16="http://schemas.microsoft.com/office/drawing/2014/main" id="{AEEA81A3-4D4E-1992-F435-A3ADA8D1765F}"/>
              </a:ext>
            </a:extLst>
          </p:cNvPr>
          <p:cNvSpPr>
            <a:spLocks noGrp="1"/>
          </p:cNvSpPr>
          <p:nvPr>
            <p:ph type="subTitle" idx="1"/>
          </p:nvPr>
        </p:nvSpPr>
        <p:spPr>
          <a:xfrm>
            <a:off x="1881640" y="388257"/>
            <a:ext cx="8676222" cy="637674"/>
          </a:xfrm>
        </p:spPr>
        <p:txBody>
          <a:bodyPr>
            <a:noAutofit/>
          </a:bodyPr>
          <a:lstStyle/>
          <a:p>
            <a:r>
              <a:rPr lang="pl-PL" sz="3600" dirty="0"/>
              <a:t>Bibliografia</a:t>
            </a:r>
          </a:p>
        </p:txBody>
      </p:sp>
    </p:spTree>
    <p:extLst>
      <p:ext uri="{BB962C8B-B14F-4D97-AF65-F5344CB8AC3E}">
        <p14:creationId xmlns:p14="http://schemas.microsoft.com/office/powerpoint/2010/main" val="3271469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930C901-23FD-3BED-3E0D-1BC8AA9CC4DD}"/>
              </a:ext>
            </a:extLst>
          </p:cNvPr>
          <p:cNvSpPr>
            <a:spLocks noGrp="1"/>
          </p:cNvSpPr>
          <p:nvPr>
            <p:ph type="title"/>
          </p:nvPr>
        </p:nvSpPr>
        <p:spPr/>
        <p:txBody>
          <a:bodyPr/>
          <a:lstStyle/>
          <a:p>
            <a:r>
              <a:rPr lang="pl-PL" dirty="0"/>
              <a:t>DZIĘKUJĘ ZA UWAGĘ</a:t>
            </a:r>
          </a:p>
        </p:txBody>
      </p:sp>
    </p:spTree>
    <p:extLst>
      <p:ext uri="{BB962C8B-B14F-4D97-AF65-F5344CB8AC3E}">
        <p14:creationId xmlns:p14="http://schemas.microsoft.com/office/powerpoint/2010/main" val="25150579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iatka">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{625AD34E-132A-4BC0-9EF9-6DE16712BEBE}TF5e103eea-be93-4576-ae9c-3ecc0de701e71ae20e7b-2dbf3b2751db</Template>
  <TotalTime>36</TotalTime>
  <Words>1623</Words>
  <Application>Microsoft Office PowerPoint</Application>
  <PresentationFormat>Panoramiczny</PresentationFormat>
  <Paragraphs>71</Paragraphs>
  <Slides>21</Slides>
  <Notes>0</Notes>
  <HiddenSlides>0</HiddenSlides>
  <MMClips>0</MMClips>
  <ScaleCrop>false</ScaleCrop>
  <HeadingPairs>
    <vt:vector size="6" baseType="variant">
      <vt:variant>
        <vt:lpstr>Używane czcionki</vt:lpstr>
      </vt:variant>
      <vt:variant>
        <vt:i4>2</vt:i4>
      </vt:variant>
      <vt:variant>
        <vt:lpstr>Motyw</vt:lpstr>
      </vt:variant>
      <vt:variant>
        <vt:i4>1</vt:i4>
      </vt:variant>
      <vt:variant>
        <vt:lpstr>Tytuły slajdów</vt:lpstr>
      </vt:variant>
      <vt:variant>
        <vt:i4>21</vt:i4>
      </vt:variant>
    </vt:vector>
  </HeadingPairs>
  <TitlesOfParts>
    <vt:vector size="24" baseType="lpstr">
      <vt:lpstr>Arial</vt:lpstr>
      <vt:lpstr>Century Gothic</vt:lpstr>
      <vt:lpstr>Siatka</vt:lpstr>
      <vt:lpstr>Kariera Roberta Kubicy w F1 i dalsze losy </vt:lpstr>
      <vt:lpstr>Plan prezentacji Wprowadzenie Kariera w F1 Powrót do F1 Dodatkowe aktywności Wpływ na polski motorsport Najważniejsze zwycięstwa i osiągnięcia Podsumowanie</vt:lpstr>
      <vt:lpstr>Robert Kubica to postać, która na trwałe zapisała się w historii sportu motorowego - nie tylko jako pierwszy Polak w Formule 1, ale także jako symbol wytrwałości, odwagi i pasji. Urodził się 7 grudnia 1984 roku w Krakowie. Od najmłodszych lat fascynowały go samochody, a jego rodzice wspominają, że już jako kilkuletni chłopiec potrafił godzinami oglądać wyścigi i rozpoznawać marki aut po samym dźwięku silnika. Pierwszym poważnym krokiem w jego karierze był karting. Kubica zaczął ścigać się w wieku zaledwie sześciu lat, a jego determinacja szybko przyniosła efekty. Zdobył mistrzostwo Polski w 1995 i 1996 roku, a następnie przeniósł się do Włoch - centrum europejskiego kartingu. Tam ścigał się z przyszłymi gwiazdami Formuły 1, takimi jak Felipe Massa czy Fernando Alonso.</vt:lpstr>
      <vt:lpstr>Kolejne lata przyniosły szybki awans. W 2002 roku Kubica zdobył Europejski Puchar Formuły Renault, co otworzyło mu drzwi do wyższych kategorii wyścigowych. Wkrótce pojawił się w Formule 3 Euro Series i Formule BMW, gdzie odnosił kolejne sukcesy, zdobywając reputację jednego z najbardziej utalentowanych młodych kierowców w Europie. Kubica słynął z precyzyjnego stylu jazdy i niezwykłej umiejętności analizy toru. Jego inżynierowie często podkreślali, że potrafił opisać zachowanie samochodu z dokładnością do pojedynczego zakrętu. Był perfekcjonistą, który dążył do doskonałości w każdym aspekcie.</vt:lpstr>
      <vt:lpstr>Dzięki temu podejściu szybko zyskał uznanie w świecie motorsportu i został zauważony przez zespoły Formuły 1. W 2005 roku został kierowcą testowym BMW Sauber, a już rok później zadebiutował w wyścigu Grand Prix. Dla Polski był to historyczny moment - po raz pierwszy nasz kraj miał swojego reprezentanta w najbardziej prestiżowej serii wyścigowej świata. Kubica stał się nie tylko sportowcem, ale również inspiracją dla całego pokolenia młodychludzi, którzy dzięki niemu zaczęli interesować się kartingiem i wyścigami samochodowymi.</vt:lpstr>
      <vt:lpstr>Kubica zadebiutował w F1 w 2006 roku w zespole BMW Sauber. Jego dynamiczna jazda i szybkie czasy okrążeń szybko przyniosły mu uznanie w stawce. W ciągu kolejnych sezonów zdobywał miejsca na podium, imponując nie tylko prędkością, ale i strategicznym myśleniem.</vt:lpstr>
      <vt:lpstr>Statystyki Kubicy w latach 2006-2010</vt:lpstr>
      <vt:lpstr>Kubica zasłynął przede wszystkim dzięki wygranej w Grand Prix Kanady 2008 odnosząc swoje pierwsze i ostatnie zwysicięstwo w F1. Wypadek w 2011 roku podczas rajdu Ronde di Andora, spowodował poważne obrażenia ręki, co wykluczyło go z wyścigów F1 na kilka lat. Rehailitacja była długa i trudna, a powrót wydawał się nierealny.</vt:lpstr>
      <vt:lpstr>Po długiej i wymagającej rehabilitacji Robert Kubica w 2019 roku ponownie zasiadł za kierownicą bolidu Formuły 1, reprezentując zespół Williams. Jego powrót do stawki był jednym z najbardziej emocjonujących momentów w historii współczesnego motorsportu. Wielu ekspertów uważało, że po tak poważnym wypadku nigdy nie będzie w stanie wrócić do rywalizacji na najwyższym poziomie, jednak Kubica po raz kolejny udowodnił, że dla niego nie ma rzeczy niemożliwych. Pomimo że bolid Williamsa nie był w pełni konkurencyjny, sam fakt powrotu polaka do ścigania był ogromnym sukcesem. Jego determinacja, koncentracja i doświadczenie sprawiły, że wzbudził podziw zarówno wśród rywali, jak i kibiców na całym świecie.</vt:lpstr>
      <vt:lpstr>Sezon 2019 był dla niego trudny, ale jednocześnie symboliczny. Wykazał się ogromną wytrwałością, pracując z inżynierami nad rozwojem bolidu i wspierając młodszych zawodników. Dzięki niemu wiele kibiców w Polsce ponownie zainteresowało się F1, a jego historia stała się przykładem niezwykłej siły charakteru i pasji. Po zakończeniu regularnych startów w F1 Kubica kontynuował karierę w rajdach oraz seriach długodystansowych, a także pełnił funkcję kierowcy testowego i rezerwowego w zespołach F1 - Alfa Romeo i później Ferrari. Jego doświadczenie techniczne i analityczne podejście do pracy z bolidem czyniły go niezwykle cennym członkiem zespołu.</vt:lpstr>
      <vt:lpstr>Poza torem Robert angażuje się w promocję motorsportu w Polsce, wspiera młodych kierowców i regularnie uczestniczy w projektach popularyzujących bezpieczeństwo w ruchu drogowym. Jest również komentatorem i ekspertem, dzielącym się wiedzą z kibicami. Jego historia inspiruje kolejne pokolenia do wiary w siebie i w to, że nawet po najtrudniejszych chwilach można wrócić silniejszym.</vt:lpstr>
      <vt:lpstr>Prezentacja programu PowerPoint</vt:lpstr>
      <vt:lpstr>Wpływ na polski motorsport</vt:lpstr>
      <vt:lpstr>Jego sukcesy w Formule 1, rajdach i wyścigach długodystansowych sprawiły, że w Polsce zaczęły powstawać nowe szkoły kartingowe, akademie kierowców i inicjatywy wspierające młodych zawodników. Wielu współczesnych polskich kierowców, takich jak Kacper Sztuka czy Tymek Kucharczyk, otwarcie przyznaje, że to właśnie Kubica był dla nich inspiracją do rozpoczęcia kariery. Poza torem Kubica odgrywa także ważną rolę jako ambasador sportów motorowych. Często uczestniczy w wydarzeniach promujących bezpieczeństwo na drogach i rozwój motorsportu w Polsce. Jego nazwisko jest synonimem profesjonalizmu, a jego postawa - dowodem na to, że wytrwałość może pokonać wszelkie przeciwności losu.</vt:lpstr>
      <vt:lpstr>▶ Inspiracja dla młodych kierowców i wzrost liczby szkół kartingowych ▶ Promowanie wyścigów samochodowych w mediach krajowych ▶ Wsparcie dla polskich zawodników startujących w wyścigach międzynarodowych ▶ Podniesienie prestiżu Polski na mapie sportów motorowych ▶ Rozwój infrastruktury i programów szkoleniowych dla młodych kierowców</vt:lpstr>
      <vt:lpstr>Po powrocie do wyścigów długodystansowych Robert Kubica szybko udowodnił, że jego talent i determinacja nie zanikły mimo trudnych lat po wypadku. W serii endurance odnalazł nowe wyzwanie - nie polegające wyłącznie na czystej prędkości, lecz także na strategii,. Dzięki swojemu doświadczeniu z Formuły 1, Kubica znakomicie odnajduje się w realiach wyścigów WEC (World Endurance Championship) i ELMS (European Le Mans Series). Jego techniczna wiedza pomagała zespołom w precyzyjnym dostrajaniu samochodów,</vt:lpstr>
      <vt:lpstr>W 2021 roku odniósł jedno ze swoich największych osiągnięć w wyścigach endurance, zdobywając tytuł mistrzowski w serii ELMS w klasie LMP2 z zespołem Team WRT. Jego występ w Le Mans tego samego roku, mimo dramatycznego finału z awarią na ostatnim okrążeniu, pokazał ogromne serce do walki i odporność psychiczną.</vt:lpstr>
      <vt:lpstr>Kubica udowodnił, że jego umiejętności nie ograniczają się tylko do Formuły 1. Jego wszechstronność, precyzja i nieustępliwość czynią go jednym z najbardziej szanowanych kierowców w świecie wyścigów długodystansowych. Jego kariera to dowód, że prawdziwa pasja i profesjonalizm potrafią przekraczać granice dyscyplin. ”To były długie 24godziny, ale bardzo radosne. bardzo wam wszystkim dziękuje - powiedział szcześliwy Kubica przez radio do osób ze swojej ekipy.”</vt:lpstr>
      <vt:lpstr> Robert Kubica to jedna z najważniejszych postaci w historii polskiego motorsportu. Jako pierwszy Polak w Formule 1 osiągnął zwycięstwo w Grand Prix, a po ciężkim wypadku udowodnił niezwykłą determinację, wracając do rywalizacji na najwyższym poziomie. Jego sukcesy w F1 i wyścigach długodystansowych oraz wpływ na rozwój motorsportu w Polsce czynią go symbolem pasji, wytrwałości i profesjonalizmu.</vt:lpstr>
      <vt:lpstr> Robert Kubica podiums STATS. 2010. url: https://www.statsf1.com/en/robert- kubica/podium.aspx (visited on 11/25/2025). Mateusz Cieślicki. powrotroberta.pl. 2025. url: powrotroberta.pl (visited on 11/25/2025). Eurosport. Robert Kubica zabrał głos po zwycięstwie w wyścigu 24h LeMans. 2025. url: https://eurosport.tvn24.pl/wec/24-heures- du-mans/2025/robert-kubica-zabral-glos- po-zwyciestwie-w-wyscigu-24h-le-mans.-co- powiedzial-polski- kierowca_sto23192677/story.shtml (visited on 11/25/2025). Robert Kubica, wikipedia wolna encyklopedia. 2025.  url: pl.wikipedia.org/wiki/Robert_Kubica (visited on 11/25/2025).</vt:lpstr>
      <vt:lpstr>DZIĘKUJĘ ZA UWAGĘ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Natalia Dul (286532)</dc:creator>
  <cp:lastModifiedBy>Natalia Dul (286532)</cp:lastModifiedBy>
  <cp:revision>2</cp:revision>
  <dcterms:created xsi:type="dcterms:W3CDTF">2026-01-20T10:12:11Z</dcterms:created>
  <dcterms:modified xsi:type="dcterms:W3CDTF">2026-01-20T10:48:37Z</dcterms:modified>
</cp:coreProperties>
</file>